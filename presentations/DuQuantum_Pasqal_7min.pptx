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7FEDC0-A9D9-4AC4-95FF-5C3F1438AFD2}">
  <a:tblStyle styleId="{2A7FEDC0-A9D9-4AC4-95FF-5C3F1438AFD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Tenne Tian</a:t>
            </a:r>
            <a:endParaRPr/>
          </a:p>
          <a:p>
            <a:pPr indent="0" lvl="0" marL="0" rtl="0" algn="l">
              <a:spcBef>
                <a:spcPts val="0"/>
              </a:spcBef>
              <a:spcAft>
                <a:spcPts val="0"/>
              </a:spcAft>
              <a:buNone/>
            </a:pPr>
            <a:r>
              <a:rPr lang="en-US"/>
              <a:t>0:00–0:20 · 20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built a hybrid solver for capacitated vehicle routing using Pasqal’s neutral-atom tools. It connects a routing problem to QUBO energies, measured simulator outputs, and validated delivery routes. We will explain the mathematics, compare with classical optimization, and discuss what the results teach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https://github.com/ericmao2007/DuQuantum-Pasqal</a:t>
            </a:r>
            <a:endParaRPr/>
          </a:p>
          <a:p>
            <a:pPr indent="0" lvl="0" marL="0" rtl="0" algn="l">
              <a:spcBef>
                <a:spcPts val="0"/>
              </a:spcBef>
              <a:spcAft>
                <a:spcPts val="0"/>
              </a:spcAft>
              <a:buNone/>
            </a:pPr>
            <a:r>
              <a:rPr lang="en-US"/>
              <a:t>https://github.com/ericmao2007/DuQuantum-Pasqal/blob/3cc9c574cf4a57be6537286ef968ac41538e01f9/docs/challenge_contract.md</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Tenne Tian</a:t>
            </a:r>
            <a:endParaRPr/>
          </a:p>
          <a:p>
            <a:pPr indent="0" lvl="0" marL="0" rtl="0" algn="l">
              <a:spcBef>
                <a:spcPts val="0"/>
              </a:spcBef>
              <a:spcAft>
                <a:spcPts val="0"/>
              </a:spcAft>
              <a:buNone/>
            </a:pPr>
            <a:r>
              <a:rPr lang="en-US"/>
              <a:t>0:20–0:55 · 35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Pasqal uses individual neutral atoms as qubits. Optical traps hold them in an arranged register, and lasers drive transitions into a Rydberg state. Nearby excited atoms interact strongly, so their positions shape an optimization landscape. We use Pulser to program those positions and controls. This saved tutorial shows a nine-atom checkerboard target. All our quantum evolution runs in a local, noiseless CPU emulator. The challenge allows emulation, and we have not used a real QPU.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https://docs.pasqal.com/pulser/tutorials/qubo/</a:t>
            </a:r>
            <a:endParaRPr/>
          </a:p>
          <a:p>
            <a:pPr indent="0" lvl="0" marL="0" rtl="0" algn="l">
              <a:spcBef>
                <a:spcPts val="0"/>
              </a:spcBef>
              <a:spcAft>
                <a:spcPts val="0"/>
              </a:spcAft>
              <a:buNone/>
            </a:pPr>
            <a:r>
              <a:rPr lang="en-US"/>
              <a:t>https://docs.pasqal.com/pulser/register/</a:t>
            </a:r>
            <a:endParaRPr/>
          </a:p>
          <a:p>
            <a:pPr indent="0" lvl="0" marL="0" rtl="0" algn="l">
              <a:spcBef>
                <a:spcPts val="0"/>
              </a:spcBef>
              <a:spcAft>
                <a:spcPts val="0"/>
              </a:spcAft>
              <a:buNone/>
            </a:pPr>
            <a:r>
              <a:rPr lang="en-US"/>
              <a:t>https://github.com/ericmao2007/DuQuantum-Pasqal/blob/3cc9c574cf4a57be6537286ef968ac41538e01f9/output/pulser_tutorial/target_register.png</a:t>
            </a:r>
            <a:endParaRPr/>
          </a:p>
          <a:p>
            <a:pPr indent="0" lvl="0" marL="0" rtl="0" algn="l">
              <a:spcBef>
                <a:spcPts val="0"/>
              </a:spcBef>
              <a:spcAft>
                <a:spcPts val="0"/>
              </a:spcAft>
              <a:buNone/>
            </a:pPr>
            <a:r>
              <a:rPr lang="en-US"/>
              <a:t>https://github.com/ericmao2007/DuQuantum-Pasqal/blob/3cc9c574cf4a57be6537286ef968ac41538e01f9/docs/challenge_contract.md</a:t>
            </a:r>
            <a:endParaRPr/>
          </a:p>
        </p:txBody>
      </p:sp>
      <p:sp>
        <p:nvSpPr>
          <p:cNvPr id="38" name="Google Shape;3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Tenne Tian</a:t>
            </a:r>
            <a:endParaRPr/>
          </a:p>
          <a:p>
            <a:pPr indent="0" lvl="0" marL="0" rtl="0" algn="l">
              <a:spcBef>
                <a:spcPts val="0"/>
              </a:spcBef>
              <a:spcAft>
                <a:spcPts val="0"/>
              </a:spcAft>
              <a:buNone/>
            </a:pPr>
            <a:r>
              <a:rPr lang="en-US"/>
              <a:t>0:55–1:45 · 50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challenge is capacitated vehicle routing. A fixed fleet serves customers whose deliveries cannot be split. Every customer must appear once, each route returns to the depot, and every vehicle stays within capacity. The goal is minimum total travel. The three tiers have four, ten, and fifteen customers. We test uniform and heterogeneous demands using reproducible, certified-feasible instances. The sampler never receives the certificates. This example illustrates cluster-first routing: colors assign customers to vehicles, then tours connect each group to the depot. The displayed within-group tours use an exact classical solver. Eric will explain the quadratic models behind our grouping and routing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https://github.com/ericmao2007/DuQuantum-Pasqal/blob/3cc9c574cf4a57be6537286ef968ac41538e01f9/docs/challenge_contract.md</a:t>
            </a:r>
            <a:endParaRPr/>
          </a:p>
          <a:p>
            <a:pPr indent="0" lvl="0" marL="0" rtl="0" algn="l">
              <a:spcBef>
                <a:spcPts val="0"/>
              </a:spcBef>
              <a:spcAft>
                <a:spcPts val="0"/>
              </a:spcAft>
              <a:buNone/>
            </a:pPr>
            <a:r>
              <a:rPr lang="en-US"/>
              <a:t>https://github.com/ericmao2007/DuQuantum-Pasqal/blob/3cc9c574cf4a57be6537286ef968ac41538e01f9/challenge/MODEL.md</a:t>
            </a:r>
            <a:endParaRPr/>
          </a:p>
          <a:p>
            <a:pPr indent="0" lvl="0" marL="0" rtl="0" algn="l">
              <a:spcBef>
                <a:spcPts val="0"/>
              </a:spcBef>
              <a:spcAft>
                <a:spcPts val="0"/>
              </a:spcAft>
              <a:buNone/>
            </a:pPr>
            <a:r>
              <a:rPr lang="en-US"/>
              <a:t>https://github.com/ericmao2007/DuQuantum-Pasqal/blob/3cc9c574cf4a57be6537286ef968ac41538e01f9/challenge/results/example_routes.png</a:t>
            </a:r>
            <a:endParaRPr/>
          </a:p>
        </p:txBody>
      </p:sp>
      <p:sp>
        <p:nvSpPr>
          <p:cNvPr id="51" name="Google Shape;5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Mao</a:t>
            </a:r>
            <a:endParaRPr/>
          </a:p>
          <a:p>
            <a:pPr indent="0" lvl="0" marL="0" rtl="0" algn="l">
              <a:spcBef>
                <a:spcPts val="0"/>
              </a:spcBef>
              <a:spcAft>
                <a:spcPts val="0"/>
              </a:spcAft>
              <a:buNone/>
            </a:pPr>
            <a:r>
              <a:rPr lang="en-US"/>
              <a:t>1:45–2:40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QUBO gives an energy to each binary answer. Linear terms score individual selections and pair terms score joint choices. To convert a capacity inequality into an equality, introduce slack: unused room on a vehicle. With capacity seven, selecting deliveries of three and two leaves slack two. The capacity penalty can therefore be zero for a valid underfilled vehicle. The full assignment-and-slack construction is an exact mathematical reference, shown in backup. Our smaller executed sampler uses a different energy and enforces capacity through classical rejection.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Exact model uses F≥0, integer residuals, and a checked feasible score U. A=B=U+1 is sufficient for exact global minimizers only. Symmetric matrix convention Qij=Jij/2 off the diagonal.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Editable LaTeX equation sources:</a:t>
            </a:r>
            <a:endParaRPr/>
          </a:p>
          <a:p>
            <a:pPr indent="0" lvl="0" marL="0" rtl="0" algn="l">
              <a:spcBef>
                <a:spcPts val="0"/>
              </a:spcBef>
              <a:spcAft>
                <a:spcPts val="0"/>
              </a:spcAft>
              <a:buNone/>
            </a:pPr>
            <a:r>
              <a:rPr lang="en-US"/>
              <a:t>E(\mathbf b)=c_0+\sum_i h_i b_i+\sum_{i&lt;j}J_{ij}b_i b_j,\qquad b_i\in\{0,1\}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3x_1+2x_2+s=7,\qquad s=u_0+2u_1+4u_2</a:t>
            </a:r>
            <a:endParaRPr/>
          </a:p>
        </p:txBody>
      </p:sp>
      <p:sp>
        <p:nvSpPr>
          <p:cNvPr id="63" name="Google Shape;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Eric Mao</a:t>
            </a:r>
            <a:endParaRPr/>
          </a:p>
          <a:p>
            <a:pPr indent="0" lvl="0" marL="0" rtl="0" algn="l">
              <a:spcBef>
                <a:spcPts val="0"/>
              </a:spcBef>
              <a:spcAft>
                <a:spcPts val="0"/>
              </a:spcAft>
              <a:buNone/>
            </a:pPr>
            <a:r>
              <a:rPr lang="en-US"/>
              <a:t>2:40–3:30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clustering sampler considers at most eight candidates at a time. The quadratic size term and linear reward favor a group near the remaining average size, while pair distances favor nearby customers. Demands do not appear in this proposal energy, so classical checks enforce capacity. We then order the customers in each group. In the official benchmark, four-customer groups use ten edge bits or sixteen position bits, and other sizes follow the declared classical rules. The updated planetary demo separately samples every ship tour, including its three-customer groups.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https://github.com/ericmao2007/DuQuantum-Pasqal/blob/3cc9c574cf4a57be6537286ef968ac41538e01f9/challenge/SPACE_OPTIMIZATION.md</a:t>
            </a:r>
            <a:endParaRPr/>
          </a:p>
          <a:p>
            <a:pPr indent="0" lvl="0" marL="0" rtl="0" algn="l">
              <a:spcBef>
                <a:spcPts val="0"/>
              </a:spcBef>
              <a:spcAft>
                <a:spcPts val="0"/>
              </a:spcAft>
              <a:buNone/>
            </a:pPr>
            <a:r>
              <a:rPr lang="en-US"/>
              <a:t>https://github.com/ericmao2007/DuQuantum-Pasqal/blob/3cc9c574cf4a57be6537286ef968ac41538e01f9/challenge/space_demo_results/dashboard.json</a:t>
            </a:r>
            <a:endParaRPr/>
          </a:p>
          <a:p>
            <a:pPr indent="0" lvl="0" marL="0" rtl="0" algn="l">
              <a:spcBef>
                <a:spcPts val="0"/>
              </a:spcBef>
              <a:spcAft>
                <a:spcPts val="0"/>
              </a:spcAft>
              <a:buNone/>
            </a:pPr>
            <a:r>
              <a:rPr lang="en-US"/>
              <a:t>Latest demo: 334/512 feasible clustering trajectories, 201000 clustering bank shots, 48000 routing shots. Valid route shots per ship: 51/16000, 1279/16000, 1178/16000. Selected group sizes 4,3,3; atoms 10,6,6. No route fallback or reference plan inserted. Selected clustering minimizes measured feasible F without exact route tie-breaking. Final-run timer 23.57 s includes reference evaluation and output and is not comparable to slide 7 online-only timings.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Editable LaTeX equation sources:</a:t>
            </a:r>
            <a:endParaRPr/>
          </a:p>
          <a:p>
            <a:pPr indent="0" lvl="0" marL="0" rtl="0" algn="l">
              <a:spcBef>
                <a:spcPts val="0"/>
              </a:spcBef>
              <a:spcAft>
                <a:spcPts val="0"/>
              </a:spcAft>
              <a:buNone/>
            </a:pPr>
            <a:r>
              <a:rPr lang="en-US"/>
              <a:t>\begin{aligned}E_{\mathrm{cl}}/\kappa&amp;=\lambda m^2-\mu m\\&amp;\quad+\sum_{i&lt;j}w_{ij}b_i b_j\end{aligned}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m=\sum_i b_i,\qquad \mu=2\lambda\frac{|R|}{L}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\begin{aligned}E_{\mathrm{edge}}&amp;=\sum_e\widetilde c_e e_e\\&amp;\quad+A\sum_v\bigl(D_v(\mathbf e)-2\bigr)^2\end{aligned}</a:t>
            </a:r>
            <a:endParaRPr/>
          </a:p>
        </p:txBody>
      </p:sp>
      <p:sp>
        <p:nvSpPr>
          <p:cNvPr id="77" name="Google Shape;7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Vidith Kondapalli</a:t>
            </a:r>
            <a:endParaRPr/>
          </a:p>
          <a:p>
            <a:pPr indent="0" lvl="0" marL="0" rtl="0" algn="l">
              <a:spcBef>
                <a:spcPts val="0"/>
              </a:spcBef>
              <a:spcAft>
                <a:spcPts val="0"/>
              </a:spcAft>
              <a:buNone/>
            </a:pPr>
            <a:r>
              <a:rPr lang="en-US"/>
              <a:t>3:30–4:15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Detuning sets individual selection costs, and atom separation sets positive pair interactions proportional to inverse distance to the sixth power. The drive prepares the quantum state. When it reaches zero at the end of the pulse, the remaining diagonal energy scores bitstrings. Global detuning shares one cost across atoms. The declared DMM emulation adds local variation, but geometry still links the pair couplings. The plotted baseline pulse lasts five point two microseconds. That duration differs from CPU simulation and total solver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Editable LaTeX equation sources:</a:t>
            </a:r>
            <a:endParaRPr/>
          </a:p>
          <a:p>
            <a:pPr indent="0" lvl="0" marL="0" rtl="0" algn="l">
              <a:spcBef>
                <a:spcPts val="0"/>
              </a:spcBef>
              <a:spcAft>
                <a:spcPts val="0"/>
              </a:spcAft>
              <a:buNone/>
            </a:pPr>
            <a:r>
              <a:rPr lang="en-US"/>
              <a:t>\frac{H(t)}{\hbar}=\frac{\Omega(t)}{2}\sum_i X_i-\sum_i\delta_i(t)n_i+\sum_{i&lt;j}\frac{\Gamma}{r_{ij}^{6}}\,n_i n_j</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h_i^{\mathrm{real}}=-\delta_i(T),\qquad J_{ij}^{\mathrm{real}}=\frac{\Gamma}{r_{ij}^{6}}</a:t>
            </a:r>
            <a:endParaRPr/>
          </a:p>
        </p:txBody>
      </p:sp>
      <p:sp>
        <p:nvSpPr>
          <p:cNvPr id="94" name="Google Shape;9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Vidith Kondapalli</a:t>
            </a:r>
            <a:endParaRPr/>
          </a:p>
          <a:p>
            <a:pPr indent="0" lvl="0" marL="0" rtl="0" algn="l">
              <a:spcBef>
                <a:spcPts val="0"/>
              </a:spcBef>
              <a:spcAft>
                <a:spcPts val="0"/>
              </a:spcAft>
              <a:buNone/>
            </a:pPr>
            <a:r>
              <a:rPr lang="en-US"/>
              <a:t>4:15–5:15 · 60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compare against a direct CPLEX mixed-integer formulation of the original routing problem, using twelve instances and three fresh repeats per method. CPLEX proves optimal routes in all thirty-six runs. Our baseline pipeline returns feasible routes in thirty-three. Its mean route gap is twenty point five nine percent across the eleven instances with successful runs. All three failures occur on one heterogeneous medium instance, during clustering. Median total time is zero point zero four two seconds for CPLEX and one point four zero one for the CPU emulator pipeline. These medians span different sizes. We also solve all seven hundred ninety-seven target QUBOs with CPLEX and exhaustive checks. Small cases use classical within-group routing. Godwin will discuss the newer tuning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local baseline comparison, not a rerun with the new tuned sampler. Full pipeline: sequential clustering + edge/DMM routing with declared classical trivial/size fallback. CPLEX uses one thread, zero requested relative MIP gap, 30 s solve limit. Both total timings include required online construction, solve/simulation, validation and fallback, excluding imports, I/O, independent scoring and diagnostic QUBO solves. Gaps are undefined for failures. The gap average is instance-weighted across successful cases. Three repeats are descriptive.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Classical-comparison provenance: separate local CPU-emulator versus CPLEX experiment, 12 instances and three repeats. These local evidence datasets are not part of the upstream repository or the new planetary experiment. The presentation retains the verified summary and protocol.</a:t>
            </a:r>
            <a:endParaRPr/>
          </a:p>
          <a:p>
            <a:pPr indent="0" lvl="0" marL="0" rtl="0" algn="l">
              <a:spcBef>
                <a:spcPts val="0"/>
              </a:spcBef>
              <a:spcAft>
                <a:spcPts val="0"/>
              </a:spcAft>
              <a:buNone/>
            </a:pPr>
            <a:r>
              <a:t/>
            </a:r>
            <a:endParaRPr/>
          </a:p>
        </p:txBody>
      </p:sp>
      <p:sp>
        <p:nvSpPr>
          <p:cNvPr id="107" name="Google Shape;10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Godwin Smart</a:t>
            </a:r>
            <a:endParaRPr/>
          </a:p>
          <a:p>
            <a:pPr indent="0" lvl="0" marL="0" rtl="0" algn="l">
              <a:spcBef>
                <a:spcPts val="0"/>
              </a:spcBef>
              <a:spcAft>
                <a:spcPts val="0"/>
              </a:spcAft>
              <a:buNone/>
            </a:pPr>
            <a:r>
              <a:rPr lang="en-US"/>
              <a:t>5:15–6:00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newest repository update improves the fixed ten-planet demo. Four seeded window orders and five hundred twelve clustering attempts explore more groupings. Each ship then receives sixteen thousand routing shots. All three tours come from measured edge and DMM bitstrings, with ten, six, and six atoms. Their combined distance is four hundred twenty-eight point one three space units, matching the independently computed global optimum on this instance. Travel falls seventeen point three four percent from the previous demo. This uses a larger budget on one fixed instance. It does not update the official benchmark or demonstrate speedup.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https://github.com/ericmao2007/DuQuantum-Pasqal/blob/3cc9c574cf4a57be6537286ef968ac41538e01f9/challenge/SPACE_OPTIMIZATION.md</a:t>
            </a:r>
            <a:endParaRPr/>
          </a:p>
          <a:p>
            <a:pPr indent="0" lvl="0" marL="0" rtl="0" algn="l">
              <a:spcBef>
                <a:spcPts val="0"/>
              </a:spcBef>
              <a:spcAft>
                <a:spcPts val="0"/>
              </a:spcAft>
              <a:buNone/>
            </a:pPr>
            <a:r>
              <a:rPr lang="en-US"/>
              <a:t>https://github.com/ericmao2007/DuQuantum-Pasqal/blob/3cc9c574cf4a57be6537286ef968ac41538e01f9/challenge/space_demo_results/dashboard.json</a:t>
            </a:r>
            <a:endParaRPr/>
          </a:p>
          <a:p>
            <a:pPr indent="0" lvl="0" marL="0" rtl="0" algn="l">
              <a:spcBef>
                <a:spcPts val="0"/>
              </a:spcBef>
              <a:spcAft>
                <a:spcPts val="0"/>
              </a:spcAft>
              <a:buNone/>
            </a:pPr>
            <a:r>
              <a:rPr lang="en-US"/>
              <a:t>Latest demo: 334/512 feasible clustering trajectories, 201000 clustering bank shots, 48000 routing shots. Valid route shots per ship: 51/16000, 1279/16000, 1178/16000. Selected group sizes 4,3,3; atoms 10,6,6. No route fallback or reference plan inserted. Selected clustering minimizes measured feasible F without exact route tie-breaking. Final-run timer 23.57 s includes reference evaluation and output and is not comparable to slide 7 online-only timings.</a:t>
            </a:r>
            <a:endParaRPr/>
          </a:p>
        </p:txBody>
      </p:sp>
      <p:sp>
        <p:nvSpPr>
          <p:cNvPr id="120" name="Google Shape;1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Godwin Smart</a:t>
            </a:r>
            <a:endParaRPr/>
          </a:p>
          <a:p>
            <a:pPr indent="0" lvl="0" marL="0" rtl="0" algn="l">
              <a:spcBef>
                <a:spcPts val="0"/>
              </a:spcBef>
              <a:spcAft>
                <a:spcPts val="0"/>
              </a:spcAft>
              <a:buNone/>
            </a:pPr>
            <a:r>
              <a:rPr lang="en-US"/>
              <a:t>6:00–6:35 · 35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diagnostics expose several losses. The clustering score omits depot travel, so compact groups can still give poor routes. Sequential choices can leave an infeasible remainder. None of the seven hundred ninety-seven native models shares a lowest-energy bitstring with its target QUBO. That demonstrates representation loss, although pulses can still sample useful excited states. More shots alone cannot guarantee recovery of the intended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Ground-state mismatch concerns each final static Hamiltonian and the exact energy minimum. It does not prove that every measured bitstring is invalid or that driven evolution cannot reach useful target states. Full-pipeline accepted routes always pass independent coverage and capacity checks. Historical exact routed-cost tie-breaking qualifies claims of wholly reference-independent clustering selection.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Classical-comparison provenance: separate local CPU-emulator versus CPLEX experiment, 12 instances and three repeats. These local evidence datasets are not part of the upstream repository or the new planetary experiment. The presentation retains the verified summary and protocol.</a:t>
            </a:r>
            <a:endParaRPr/>
          </a:p>
          <a:p>
            <a:pPr indent="0" lvl="0" marL="0" rtl="0" algn="l">
              <a:spcBef>
                <a:spcPts val="0"/>
              </a:spcBef>
              <a:spcAft>
                <a:spcPts val="0"/>
              </a:spcAft>
              <a:buNone/>
            </a:pPr>
            <a:r>
              <a:t/>
            </a:r>
            <a:endParaRPr/>
          </a:p>
        </p:txBody>
      </p:sp>
      <p:sp>
        <p:nvSpPr>
          <p:cNvPr id="135" name="Google Shape;13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Godwin Smart</a:t>
            </a:r>
            <a:endParaRPr/>
          </a:p>
          <a:p>
            <a:pPr indent="0" lvl="0" marL="0" rtl="0" algn="l">
              <a:spcBef>
                <a:spcPts val="0"/>
              </a:spcBef>
              <a:spcAft>
                <a:spcPts val="0"/>
              </a:spcAft>
              <a:buNone/>
            </a:pPr>
            <a:r>
              <a:rPr lang="en-US"/>
              <a:t>6:35–7:00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built a hybrid routing experiment with explicit mathematical models, measured simulator outputs, and validated routes. The updated planetary demo reaches the exact optimum on one instance, with every tour selected from measurements. The broader twelve-instance comparison still favors CPLEX. Our next priorities are demand and depot modeling, more faithful embeddings, and evaluation across additional independent seeds. Atlas makes the saved process inspectable. Thank you.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https://github.com/ericmao2007/DuQuantum-Pasqal/blob/3cc9c574cf4a57be6537286ef968ac41538e01f9/challenge/SPACE_OPTIMIZATION.md</a:t>
            </a:r>
            <a:endParaRPr/>
          </a:p>
          <a:p>
            <a:pPr indent="0" lvl="0" marL="0" rtl="0" algn="l">
              <a:spcBef>
                <a:spcPts val="0"/>
              </a:spcBef>
              <a:spcAft>
                <a:spcPts val="0"/>
              </a:spcAft>
              <a:buNone/>
            </a:pPr>
            <a:r>
              <a:rPr lang="en-US"/>
              <a:t>https://github.com/ericmao2007/DuQuantum-Pasqal/blob/3cc9c574cf4a57be6537286ef968ac41538e01f9/challenge/space_demo_results/dashboard.json</a:t>
            </a:r>
            <a:endParaRPr/>
          </a:p>
          <a:p>
            <a:pPr indent="0" lvl="0" marL="0" rtl="0" algn="l">
              <a:spcBef>
                <a:spcPts val="0"/>
              </a:spcBef>
              <a:spcAft>
                <a:spcPts val="0"/>
              </a:spcAft>
              <a:buNone/>
            </a:pPr>
            <a:r>
              <a:rPr lang="en-US"/>
              <a:t>Latest demo: 334/512 feasible clustering trajectories, 201000 clustering bank shots, 48000 routing shots. Valid route shots per ship: 51/16000, 1279/16000, 1178/16000. Selected group sizes 4,3,3; atoms 10,6,6. No route fallback or reference plan inserted. Selected clustering minimizes measured feasible F without exact route tie-breaking. Final-run timer 23.57 s includes reference evaluation and output and is not comparable to slide 7 online-only timings.</a:t>
            </a:r>
            <a:endParaRPr/>
          </a:p>
        </p:txBody>
      </p:sp>
      <p:sp>
        <p:nvSpPr>
          <p:cNvPr id="151" name="Google Shape;15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exact slack model has NK+K ceil(log2(Q+1)) bits, reaching the challenge’s 80-atom cap on L. The sequential eight-atom window is a different heuristic, not an equivalent compressed encoding. It exchanges simultaneous variables for repeated calls and classical rejection.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feasible certificate bounds F by U. Every violated integer equality adds at least A or B and F is nonnegative, so U+1 excludes infeasible global minima. This is an algebraic guarantee and does not establish a physically exact register embedding.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Editable LaTeX equation sources:</a:t>
            </a:r>
            <a:endParaRPr/>
          </a:p>
          <a:p>
            <a:pPr indent="0" lvl="0" marL="0" rtl="0" algn="l">
              <a:spcBef>
                <a:spcPts val="0"/>
              </a:spcBef>
              <a:spcAft>
                <a:spcPts val="0"/>
              </a:spcAft>
              <a:buNone/>
            </a:pPr>
            <a:r>
              <a:rPr lang="en-US"/>
              <a:t>\begin{aligned}E_{\mathrm{slack}}={}&amp;F(x)+A\sum_i\left(\sum_k x_{ik}-1\right)^2\\&amp;+B\sum_k\left(\sum_i d_i x_{ik}+s_k-Q\right)^2\end{aligned}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s_k=\sum_{\ell=0}^{B_Q-1}2^\ell u_{k\ell},\qquad B_Q=\left\lceil\log_2(Q+1)\right\rceil</a:t>
            </a:r>
            <a:endParaRPr/>
          </a:p>
        </p:txBody>
      </p:sp>
      <p:sp>
        <p:nvSpPr>
          <p:cNvPr id="163" name="Google Shape;16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Both target encodings are algebraically valid at the executed four-customer size. Degree-two edge constraints alone are insufficient in general, but five total vertices cannot contain two disjoint simple cycles. For larger groups the implementation declares a classical size fallback. Position encoding fixes the depot outside four customer positions and enforces one-hot rows and columns.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Costs normalized by 100 sqrt(2), so any valid four-customer tour costs at most 5. A nonzero squared integer violation costs at least 10. Edge constant is 4(n+1)A. Position constant is 2nA. Constants do not affect minimizers. Symmetric-matrix off-diagonals halve the unordered-pair coefficient. Global-only projection of h_e to its mean removes direct distance discrimination among valid edge tours. DMM restores those linear terms in declared emulation, while pair distortion remains.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x_it=1 means customer i at position t. C_tour(x) includes first/last depot terms and consecutive-position pair costs. At n=4, 24 valid position bitstrings represent 12 tours up to reversal; edge encoding has 12 valid states. For n≥5, degree two alone permits disconnected cycles. Global-only projection of edge linear coefficients removes direct distance discrimination among valid tours; with the exact target pair matrix they become degenerate. DMM restores linear terms within declared emulation bounds, but not pair interactions.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Editable LaTeX equation sources:</a:t>
            </a:r>
            <a:endParaRPr/>
          </a:p>
          <a:p>
            <a:pPr indent="0" lvl="0" marL="0" rtl="0" algn="l">
              <a:spcBef>
                <a:spcPts val="0"/>
              </a:spcBef>
              <a:spcAft>
                <a:spcPts val="0"/>
              </a:spcAft>
              <a:buNone/>
            </a:pPr>
            <a:r>
              <a:rPr lang="en-US"/>
              <a:t>E_{\mathrm{edge}}=\sum_{i&lt;j}\widetilde c_{ij}e_{ij}+A\sum_v\left(\sum_{e\ni v}e_e-2\right)^2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h_e=\widetilde c_e-6A,\qquad J_{ef}=2A\quad\text{for incident edges}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\begin{aligned}E_{\mathrm{pos}}={}&amp;C_{\mathrm{tour}}(x)+A\sum_i\left(\sum_t x_{it}-1\right)^2\\&amp;+A\sum_t\left(\sum_i x_{it}-1\right)^2\end{aligned}</a:t>
            </a:r>
            <a:endParaRPr/>
          </a:p>
        </p:txBody>
      </p:sp>
      <p:sp>
        <p:nvSpPr>
          <p:cNvPr id="174" name="Google Shape;17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full source chart preserves the per-instance comparison behind the aggregate table. Inspect per-instance runtime rather than treating a median across mixed sizes as a universal speed ratio. All three baseline pipeline failures are M_heterogeneous_11.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Classical-comparison provenance: separate local CPU-emulator versus CPLEX experiment, 12 instances and three repeats. These local evidence datasets are not part of the upstream repository or the new planetary experiment. The presentation retains the verified summary and protocol.</a:t>
            </a:r>
            <a:endParaRPr/>
          </a:p>
          <a:p>
            <a:pPr indent="0" lvl="0" marL="0" rtl="0" algn="l">
              <a:spcBef>
                <a:spcPts val="0"/>
              </a:spcBef>
              <a:spcAft>
                <a:spcPts val="0"/>
              </a:spcAft>
              <a:buNone/>
            </a:pPr>
            <a:r>
              <a:t/>
            </a:r>
            <a:endParaRPr/>
          </a:p>
        </p:txBody>
      </p:sp>
      <p:sp>
        <p:nvSpPr>
          <p:cNvPr id="187" name="Google Shape;187;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Sampling a target optimum and returning a valid tour answer different questions. All edge routing banks contain at least one valid tour, but only nineteen contain an optimal target tour. Position/DMM diagnostics are seven paired side experiments. They do not form an end-to-end position-routing benchmark and are excluded from pipeline timing.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counts are numbers of banks containing at least one successful sample, not raw single-shot probabilities. Target clustering optima need not be capacity-feasible or part of the best full CVRP partition.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Classical-comparison provenance: separate local CPU-emulator versus CPLEX experiment, 12 instances and three repeats. These local evidence datasets are not part of the upstream repository or the new planetary experiment. The presentation retains the verified summary and protocol.</a:t>
            </a:r>
            <a:endParaRPr/>
          </a:p>
          <a:p>
            <a:pPr indent="0" lvl="0" marL="0" rtl="0" algn="l">
              <a:spcBef>
                <a:spcPts val="0"/>
              </a:spcBef>
              <a:spcAft>
                <a:spcPts val="0"/>
              </a:spcAft>
              <a:buNone/>
            </a:pPr>
            <a:r>
              <a:t/>
            </a:r>
            <a:endParaRPr/>
          </a:p>
        </p:txBody>
      </p:sp>
      <p:sp>
        <p:nvSpPr>
          <p:cNvPr id="196" name="Google Shape;19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preserves the historical source graph for the two routing encodings and random baseline. It belongs to the original Track B protocol and should not be pooled with local reruns or new tuning results. Random routing samples valid permutations, a strong baseline on four-customer groups with only twelve undirected tours.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https://github.com/ericmao2007/DuQuantum-Pasqal/blob/3cc9c574cf4a57be6537286ef968ac41538e01f9/challenge/track_b_results/routing_comparison.png</a:t>
            </a:r>
            <a:endParaRPr/>
          </a:p>
        </p:txBody>
      </p:sp>
      <p:sp>
        <p:nvSpPr>
          <p:cNvPr id="206" name="Google Shape;206;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original route graph illustrates the complete hybrid pipeline. Use the source’s per-cluster accounting to identify quantum routes and classical contributions. A failed eligible quantum route stays a failure rather than triggering repair.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https://github.com/ericmao2007/DuQuantum-Pasqal/blob/3cc9c574cf4a57be6537286ef968ac41538e01f9/challenge/track_b_results/end_to_end_routes.png</a:t>
            </a:r>
            <a:endParaRPr/>
          </a:p>
        </p:txBody>
      </p:sp>
      <p:sp>
        <p:nvSpPr>
          <p:cNvPr id="215" name="Google Shape;21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Godwin Smart</a:t>
            </a:r>
            <a:endParaRPr/>
          </a:p>
          <a:p>
            <a:pPr indent="0" lvl="0" marL="0" rtl="0" algn="l">
              <a:spcBef>
                <a:spcPts val="0"/>
              </a:spcBef>
              <a:spcAft>
                <a:spcPts val="0"/>
              </a:spcAft>
              <a:buNone/>
            </a:pPr>
            <a:r>
              <a:rPr lang="en-US"/>
              <a:t>5:15–6:00 · 45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newest experiment tunes clustering proposals while keeping the objective and capacity checks fixed. We screen sixteen configurations, select on training seed eleven, freeze the winner, and validate on six cases at seed one hundred one. Mean feasible trajectory fraction rises from fifty-eight point eight five to sixty point four two percent. Mean best model gap falls from eight point four one to seven point five seven percent. Both methods solve all six cases, but some large-case counts worsen. Total solver time increases from eighteen point five nine to forty-three point four two seconds. This small pilot does not update the baseline CPLEX comparison.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GitHub observed at commit 0434354dd2320e4c69caa7db02abb6167ede3817 on October 24, 2026. Baseline/selected counts are [13,31,17,17,22,13] / [16,31,19,19,19,12]. Selected settings: Ω=8 rad/µs, scale=2, reward factor=0.8, durations 800/3600/800 ns, three embedding starts. Different branches use 126 versus 153 backend calls (126,000 versus 153,000 bank shots). Equal trajectory budgets do not imply equal total-shot budgets. One instance seed per split, one sampler seed per case, shared banks and shared family coordinates limit independence. The baseline remains the default. This result concerns clustering, with exact within-group route evaluation, not the full Track B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https://github.com/ericmao2007/DuQuantum-Pasqal/blob/0434354dd2320e4c69caa7db02abb6167ede3817/challenge/TUNING.md</a:t>
            </a:r>
            <a:endParaRPr/>
          </a:p>
          <a:p>
            <a:pPr indent="0" lvl="0" marL="0" rtl="0" algn="l">
              <a:spcBef>
                <a:spcPts val="0"/>
              </a:spcBef>
              <a:spcAft>
                <a:spcPts val="0"/>
              </a:spcAft>
              <a:buNone/>
            </a:pPr>
            <a:r>
              <a:rPr lang="en-US"/>
              <a:t>https://github.com/ericmao2007/DuQuantum-Pasqal/blob/0434354dd2320e4c69caa7db02abb6167ede3817/challenge/tuning_results/selected.json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p:txBody>
      </p:sp>
      <p:sp>
        <p:nvSpPr>
          <p:cNvPr id="224" name="Google Shape;224;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Q&amp;A</a:t>
            </a:r>
            <a:endParaRPr/>
          </a:p>
          <a:p>
            <a:pPr indent="0" lvl="0" marL="0" rtl="0" algn="l">
              <a:spcBef>
                <a:spcPts val="0"/>
              </a:spcBef>
              <a:spcAft>
                <a:spcPts val="0"/>
              </a:spcAft>
              <a:buNone/>
            </a:pPr>
            <a:r>
              <a:rPr lang="en-US"/>
              <a:t>Backup, outside the seven-minute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deck keeps experiment families separate. Complete source details and limitations are attached to the relevant slide notes. The main benchmark compares identical CVRP inputs and feasibility rules. Independent Held–Karp subset tours and partition dynamic programming cross-check every claimed full-route optimum. Timings include required optimization and validation work, excluding independent scoring, file I/O, imports and separate QUBO diagnostics equally.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Historical clustering selection uses exact within-group routed cost to break equal surrogate-cost ties. The baseline pulse settings are predetermined. New sampler tuning is a bounded joint search, not a controlled single-parameter ablation or extensive machine-learning training. Main speaking time totals 420 s: Tenne 105, Eric 105, Vidith 105, Godwin 105. AI assisted the modeling, implementation, analysis, documentation and presentation preparation. The team should review and explain the submitted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and provenance:</a:t>
            </a:r>
            <a:endParaRPr/>
          </a:p>
          <a:p>
            <a:pPr indent="0" lvl="0" marL="0" rtl="0" algn="l">
              <a:spcBef>
                <a:spcPts val="0"/>
              </a:spcBef>
              <a:spcAft>
                <a:spcPts val="0"/>
              </a:spcAft>
              <a:buNone/>
            </a:pPr>
            <a:r>
              <a:rPr lang="en-US"/>
              <a:t>https://github.com/ericmao2007/DuQuantum-Pasqal/blob/0434354dd2320e4c69caa7db02abb6167ede3817/challenge/TUNING.md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Revision reviewed October 25, 2026 against repository 3cc9c574cf4a57be6537286ef968ac41538e01f9.</a:t>
            </a:r>
            <a:endParaRPr/>
          </a:p>
          <a:p>
            <a:pPr indent="0" lvl="0" marL="0" rtl="0" algn="l">
              <a:spcBef>
                <a:spcPts val="0"/>
              </a:spcBef>
              <a:spcAft>
                <a:spcPts val="0"/>
              </a:spcAft>
              <a:buNone/>
            </a:pPr>
            <a:r>
              <a:rPr lang="en-US"/>
              <a:t>Official benchmark and new 3D demo are distinct experiments. All quantum evolution is CPU emulation.</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https://github.com/ericmao2007/DuQuantum-Pasqal/blob/3cc9c574cf4a57be6537286ef968ac41538e01f9/challenge/MATH_WRITEUP.md</a:t>
            </a:r>
            <a:endParaRPr/>
          </a:p>
          <a:p>
            <a:pPr indent="0" lvl="0" marL="0" rtl="0" algn="l">
              <a:spcBef>
                <a:spcPts val="0"/>
              </a:spcBef>
              <a:spcAft>
                <a:spcPts val="0"/>
              </a:spcAft>
              <a:buNone/>
            </a:pPr>
            <a:r>
              <a:rPr lang="en-US"/>
              <a:t>https://github.com/ericmao2007/DuQuantum-Pasqal/blob/3cc9c574cf4a57be6537286ef968ac41538e01f9/challenge/TRACK_B_MODEL.md</a:t>
            </a:r>
            <a:endParaRPr/>
          </a:p>
          <a:p>
            <a:pPr indent="0" lvl="0" marL="0" rtl="0" algn="l">
              <a:spcBef>
                <a:spcPts val="0"/>
              </a:spcBef>
              <a:spcAft>
                <a:spcPts val="0"/>
              </a:spcAft>
              <a:buNone/>
            </a:pPr>
            <a:r>
              <a:rPr lang="en-US"/>
              <a:t>C_model: exact tours of a chosen surrogate-optimal partition. C_shot: exact tours of the fixed selected measured partition. C_end: actual returned tours. Use one consistent selected grouping. The telescoping identity adds absolute losses, not percentages with different denominators.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Editable LaTeX equation sources:</a:t>
            </a:r>
            <a:endParaRPr/>
          </a:p>
          <a:p>
            <a:pPr indent="0" lvl="0" marL="0" rtl="0" algn="l">
              <a:spcBef>
                <a:spcPts val="0"/>
              </a:spcBef>
              <a:spcAft>
                <a:spcPts val="0"/>
              </a:spcAft>
              <a:buNone/>
            </a:pPr>
            <a:r>
              <a:rPr lang="en-US"/>
              <a:t>\mathrm{gap}(\%)=100\left(\frac{C}{C^{*}}-1\right)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gin{aligned}C_{\mathrm{end}}-C_{\mathrm{ref}}={}&amp;\underbrace{C_{\mathrm{model}}-C_{\mathrm{ref}}}_{\text{decomposition}}+\underbrace{C_{\mathrm{shot}}-C_{\mathrm{model}}}_{\text{clustering}}\\&amp;+\underbrace{C_{\mathrm{end}}-C_{\mathrm{shot}}}_{\text{routing}}\end{aligned}</a:t>
            </a:r>
            <a:endParaRPr/>
          </a:p>
        </p:txBody>
      </p:sp>
      <p:sp>
        <p:nvSpPr>
          <p:cNvPr id="239" name="Google Shape;23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524"/>
        </a:solidFill>
      </p:bgPr>
    </p:bg>
    <p:spTree>
      <p:nvGrpSpPr>
        <p:cNvPr id="30" name="Shape 30"/>
        <p:cNvGrpSpPr/>
        <p:nvPr/>
      </p:nvGrpSpPr>
      <p:grpSpPr>
        <a:xfrm>
          <a:off x="0" y="0"/>
          <a:ext cx="0" cy="0"/>
          <a:chOff x="0" y="0"/>
          <a:chExt cx="0" cy="0"/>
        </a:xfrm>
      </p:grpSpPr>
      <p:sp>
        <p:nvSpPr>
          <p:cNvPr id="31" name="Google Shape;31;p8"/>
          <p:cNvSpPr/>
          <p:nvPr/>
        </p:nvSpPr>
        <p:spPr>
          <a:xfrm>
            <a:off x="609600" y="1714500"/>
            <a:ext cx="109728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800">
                <a:solidFill>
                  <a:srgbClr val="FFFFFF"/>
                </a:solidFill>
              </a:rPr>
              <a:t>Quantum </a:t>
            </a:r>
            <a:r>
              <a:rPr b="1" lang="en-US" sz="4800">
                <a:solidFill>
                  <a:srgbClr val="FFFFFF"/>
                </a:solidFill>
              </a:rPr>
              <a:t>Optimization with</a:t>
            </a:r>
            <a:r>
              <a:rPr b="1" lang="en-US" sz="4800">
                <a:solidFill>
                  <a:srgbClr val="FFFFFF"/>
                </a:solidFill>
              </a:rPr>
              <a:t> </a:t>
            </a:r>
            <a:r>
              <a:rPr b="1" lang="en-US" sz="4800">
                <a:solidFill>
                  <a:srgbClr val="FFFFFF"/>
                </a:solidFill>
                <a:latin typeface="Arial"/>
                <a:ea typeface="Arial"/>
                <a:cs typeface="Arial"/>
                <a:sym typeface="Arial"/>
              </a:rPr>
              <a:t>Pasqal neutral atoms</a:t>
            </a:r>
            <a:endParaRPr/>
          </a:p>
        </p:txBody>
      </p:sp>
      <p:sp>
        <p:nvSpPr>
          <p:cNvPr id="32" name="Google Shape;32;p8"/>
          <p:cNvSpPr/>
          <p:nvPr/>
        </p:nvSpPr>
        <p:spPr>
          <a:xfrm>
            <a:off x="609600" y="742950"/>
            <a:ext cx="104775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99E3DB"/>
                </a:solidFill>
                <a:latin typeface="Arial"/>
                <a:ea typeface="Arial"/>
                <a:cs typeface="Arial"/>
                <a:sym typeface="Arial"/>
              </a:rPr>
              <a:t>DuQuantum Pasqal Challenge</a:t>
            </a:r>
            <a:endParaRPr/>
          </a:p>
        </p:txBody>
      </p:sp>
      <p:sp>
        <p:nvSpPr>
          <p:cNvPr id="33" name="Google Shape;33;p8"/>
          <p:cNvSpPr/>
          <p:nvPr/>
        </p:nvSpPr>
        <p:spPr>
          <a:xfrm>
            <a:off x="609600" y="3905250"/>
            <a:ext cx="104775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34" name="Google Shape;34;p8"/>
          <p:cNvSpPr/>
          <p:nvPr/>
        </p:nvSpPr>
        <p:spPr>
          <a:xfrm>
            <a:off x="609600" y="5638800"/>
            <a:ext cx="109728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Arial"/>
                <a:ea typeface="Arial"/>
                <a:cs typeface="Arial"/>
                <a:sym typeface="Arial"/>
              </a:rPr>
              <a:t>Tenne Tian     Eric Mao     Vidith Kondapalli     Godwin Smart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9"/>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Pasqal and neutral-atom optimization</a:t>
            </a:r>
            <a:endParaRPr/>
          </a:p>
        </p:txBody>
      </p:sp>
      <p:sp>
        <p:nvSpPr>
          <p:cNvPr id="41" name="Google Shape;41;p9"/>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02</a:t>
            </a:r>
            <a:endParaRPr/>
          </a:p>
        </p:txBody>
      </p:sp>
      <p:sp>
        <p:nvSpPr>
          <p:cNvPr id="42" name="Google Shape;42;p9"/>
          <p:cNvSpPr/>
          <p:nvPr/>
        </p:nvSpPr>
        <p:spPr>
          <a:xfrm>
            <a:off x="609600" y="1543050"/>
            <a:ext cx="5410200" cy="933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5263B"/>
                </a:solidFill>
              </a:rPr>
              <a:t>A</a:t>
            </a:r>
            <a:r>
              <a:rPr b="1" lang="en-US" sz="2325">
                <a:solidFill>
                  <a:srgbClr val="15263B"/>
                </a:solidFill>
                <a:latin typeface="Arial"/>
                <a:ea typeface="Arial"/>
                <a:cs typeface="Arial"/>
                <a:sym typeface="Arial"/>
              </a:rPr>
              <a:t>nalog quantum processors from neutral atoms held in optical traps.</a:t>
            </a:r>
            <a:endParaRPr/>
          </a:p>
        </p:txBody>
      </p:sp>
      <p:sp>
        <p:nvSpPr>
          <p:cNvPr id="43" name="Google Shape;43;p9"/>
          <p:cNvSpPr/>
          <p:nvPr/>
        </p:nvSpPr>
        <p:spPr>
          <a:xfrm>
            <a:off x="609600" y="2743200"/>
            <a:ext cx="523875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5263B"/>
                </a:solidFill>
                <a:latin typeface="Arial"/>
                <a:ea typeface="Arial"/>
                <a:cs typeface="Arial"/>
                <a:sym typeface="Arial"/>
              </a:rPr>
              <a:t>Lasers drive atoms between a ground state and an excited Rydberg state.</a:t>
            </a:r>
            <a:endParaRPr/>
          </a:p>
        </p:txBody>
      </p:sp>
      <p:sp>
        <p:nvSpPr>
          <p:cNvPr id="44" name="Google Shape;44;p9"/>
          <p:cNvSpPr/>
          <p:nvPr/>
        </p:nvSpPr>
        <p:spPr>
          <a:xfrm>
            <a:off x="609600" y="3838575"/>
            <a:ext cx="5238750" cy="9239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15263B"/>
                </a:solidFill>
              </a:rPr>
              <a:t>Rydberg interactions allow the system to enter a ground state </a:t>
            </a:r>
            <a:r>
              <a:rPr lang="en-US" sz="2100">
                <a:solidFill>
                  <a:srgbClr val="15263B"/>
                </a:solidFill>
              </a:rPr>
              <a:t>mimicking</a:t>
            </a:r>
            <a:r>
              <a:rPr lang="en-US" sz="2100">
                <a:solidFill>
                  <a:srgbClr val="15263B"/>
                </a:solidFill>
              </a:rPr>
              <a:t> the ideal </a:t>
            </a:r>
            <a:endParaRPr sz="2100">
              <a:solidFill>
                <a:srgbClr val="15263B"/>
              </a:solidFill>
            </a:endParaRPr>
          </a:p>
        </p:txBody>
      </p:sp>
      <p:sp>
        <p:nvSpPr>
          <p:cNvPr id="45" name="Google Shape;45;p9"/>
          <p:cNvSpPr/>
          <p:nvPr/>
        </p:nvSpPr>
        <p:spPr>
          <a:xfrm>
            <a:off x="609600" y="5048250"/>
            <a:ext cx="523875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87F8C"/>
                </a:solidFill>
                <a:latin typeface="Arial"/>
                <a:ea typeface="Arial"/>
                <a:cs typeface="Arial"/>
                <a:sym typeface="Arial"/>
              </a:rPr>
              <a:t>Pulser specifies the register and pulses, then samples binary outcomes.</a:t>
            </a:r>
            <a:endParaRPr/>
          </a:p>
        </p:txBody>
      </p:sp>
      <p:pic>
        <p:nvPicPr>
          <p:cNvPr id="46" name="Google Shape;46;p9"/>
          <p:cNvPicPr preferRelativeResize="0"/>
          <p:nvPr/>
        </p:nvPicPr>
        <p:blipFill rotWithShape="1">
          <a:blip r:embed="rId3">
            <a:alphaModFix/>
          </a:blip>
          <a:srcRect b="0" l="0" r="0" t="0"/>
          <a:stretch/>
        </p:blipFill>
        <p:spPr>
          <a:xfrm>
            <a:off x="6610350" y="1352550"/>
            <a:ext cx="4572000" cy="4572000"/>
          </a:xfrm>
          <a:prstGeom prst="rect">
            <a:avLst/>
          </a:prstGeom>
          <a:noFill/>
          <a:ln>
            <a:noFill/>
          </a:ln>
        </p:spPr>
      </p:pic>
      <p:sp>
        <p:nvSpPr>
          <p:cNvPr id="47" name="Google Shape;47;p9"/>
          <p:cNvSpPr/>
          <p:nvPr/>
        </p:nvSpPr>
        <p:spPr>
          <a:xfrm>
            <a:off x="7222125" y="5851000"/>
            <a:ext cx="4042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25">
                <a:solidFill>
                  <a:srgbClr val="506176"/>
                </a:solidFill>
              </a:rPr>
              <a:t>Saved nine-atom tutorial register; nearest-neighbor spacing 7.19 µm.</a:t>
            </a:r>
            <a:endParaRPr sz="1425">
              <a:solidFill>
                <a:srgbClr val="50617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10"/>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The capacitated vehicle routing problem</a:t>
            </a:r>
            <a:endParaRPr/>
          </a:p>
        </p:txBody>
      </p:sp>
      <p:sp>
        <p:nvSpPr>
          <p:cNvPr id="54" name="Google Shape;54;p10"/>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03</a:t>
            </a:r>
            <a:endParaRPr/>
          </a:p>
        </p:txBody>
      </p:sp>
      <p:graphicFrame>
        <p:nvGraphicFramePr>
          <p:cNvPr id="55" name="Google Shape;55;p10"/>
          <p:cNvGraphicFramePr/>
          <p:nvPr/>
        </p:nvGraphicFramePr>
        <p:xfrm>
          <a:off x="609600" y="1562100"/>
          <a:ext cx="3000000" cy="3000000"/>
        </p:xfrm>
        <a:graphic>
          <a:graphicData uri="http://schemas.openxmlformats.org/drawingml/2006/table">
            <a:tbl>
              <a:tblPr>
                <a:noFill/>
                <a:tableStyleId>{2A7FEDC0-A9D9-4AC4-95FF-5C3F1438AFD2}</a:tableStyleId>
              </a:tblPr>
              <a:tblGrid>
                <a:gridCol w="742950"/>
                <a:gridCol w="1524000"/>
                <a:gridCol w="1285875"/>
                <a:gridCol w="1352550"/>
              </a:tblGrid>
              <a:tr h="566750">
                <a:tc>
                  <a:txBody>
                    <a:bodyPr/>
                    <a:lstStyle/>
                    <a:p>
                      <a:pPr indent="0" lvl="0" marL="0" marR="0" rtl="0" algn="l">
                        <a:spcBef>
                          <a:spcPts val="0"/>
                        </a:spcBef>
                        <a:spcAft>
                          <a:spcPts val="0"/>
                        </a:spcAft>
                        <a:buClr>
                          <a:srgbClr val="FFFFFF"/>
                        </a:buClr>
                        <a:buSzPts val="1800"/>
                        <a:buFont typeface="Arial"/>
                        <a:buNone/>
                      </a:pPr>
                      <a:r>
                        <a:rPr b="1" lang="en-US" sz="1800" u="none" cap="none" strike="noStrike">
                          <a:solidFill>
                            <a:srgbClr val="FFFFFF"/>
                          </a:solidFill>
                          <a:latin typeface="Arial"/>
                          <a:ea typeface="Arial"/>
                          <a:cs typeface="Arial"/>
                          <a:sym typeface="Arial"/>
                        </a:rPr>
                        <a:t>Tier</a:t>
                      </a:r>
                      <a:endParaRPr/>
                    </a:p>
                  </a:txBody>
                  <a:tcPr marT="45725" marB="45725" marR="91450" marL="91450" anchor="ctr">
                    <a:lnL cap="flat" cmpd="sng" w="9525">
                      <a:solidFill>
                        <a:srgbClr val="D5E0E6"/>
                      </a:solidFill>
                      <a:prstDash val="solid"/>
                      <a:round/>
                      <a:headEnd len="sm" w="sm" type="none"/>
                      <a:tailEnd len="sm" w="sm" type="none"/>
                    </a:lnL>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Customers</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Vehicles</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Capacity</a:t>
                      </a:r>
                      <a:endParaRPr/>
                    </a:p>
                  </a:txBody>
                  <a:tcPr marT="45725" marB="45725" marR="91450" marL="91450" anchor="ctr">
                    <a:lnR cap="flat" cmpd="sng" w="9525">
                      <a:solidFill>
                        <a:srgbClr val="D5E0E6"/>
                      </a:solidFill>
                      <a:prstDash val="solid"/>
                      <a:round/>
                      <a:headEnd len="sm" w="sm" type="none"/>
                      <a:tailEnd len="sm" w="sm" type="none"/>
                    </a:lnR>
                    <a:lnT cap="flat" cmpd="sng" w="9525">
                      <a:solidFill>
                        <a:srgbClr val="D5E0E6"/>
                      </a:solidFill>
                      <a:prstDash val="solid"/>
                      <a:round/>
                      <a:headEnd len="sm" w="sm" type="none"/>
                      <a:tailEnd len="sm" w="sm" type="none"/>
                    </a:lnT>
                    <a:solidFill>
                      <a:srgbClr val="0C1524"/>
                    </a:solidFill>
                  </a:tcPr>
                </a:tc>
              </a:tr>
              <a:tr h="566750">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S</a:t>
                      </a:r>
                      <a:endParaRPr/>
                    </a:p>
                  </a:txBody>
                  <a:tcPr marT="45725" marB="45725" marR="91450" marL="91450" anchor="ctr">
                    <a:lnL cap="flat" cmpd="sng" w="9525">
                      <a:solidFill>
                        <a:srgbClr val="D5E0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4</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2</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7</a:t>
                      </a:r>
                      <a:endParaRPr/>
                    </a:p>
                  </a:txBody>
                  <a:tcPr marT="45725" marB="45725" marR="91450" marL="91450" anchor="ctr">
                    <a:lnR cap="flat" cmpd="sng" w="9525">
                      <a:solidFill>
                        <a:srgbClr val="D5E0E6"/>
                      </a:solidFill>
                      <a:prstDash val="solid"/>
                      <a:round/>
                      <a:headEnd len="sm" w="sm" type="none"/>
                      <a:tailEnd len="sm" w="sm" type="none"/>
                    </a:lnR>
                    <a:solidFill>
                      <a:srgbClr val="FFFFFF"/>
                    </a:solidFill>
                  </a:tcPr>
                </a:tc>
              </a:tr>
              <a:tr h="566750">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M</a:t>
                      </a:r>
                      <a:endParaRPr/>
                    </a:p>
                  </a:txBody>
                  <a:tcPr marT="45725" marB="45725" marR="91450" marL="91450" anchor="ctr">
                    <a:lnL cap="flat" cmpd="sng" w="9525">
                      <a:solidFill>
                        <a:srgbClr val="D5E0E6"/>
                      </a:solidFill>
                      <a:prstDash val="solid"/>
                      <a:round/>
                      <a:headEnd len="sm" w="sm" type="none"/>
                      <a:tailEnd len="sm" w="sm" type="none"/>
                    </a:lnL>
                    <a:solidFill>
                      <a:srgbClr val="F2F6F8"/>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10</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3</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20</a:t>
                      </a:r>
                      <a:endParaRPr/>
                    </a:p>
                  </a:txBody>
                  <a:tcPr marT="45725" marB="45725" marR="91450" marL="91450" anchor="ctr">
                    <a:lnR cap="flat" cmpd="sng" w="9525">
                      <a:solidFill>
                        <a:srgbClr val="D5E0E6"/>
                      </a:solidFill>
                      <a:prstDash val="solid"/>
                      <a:round/>
                      <a:headEnd len="sm" w="sm" type="none"/>
                      <a:tailEnd len="sm" w="sm" type="none"/>
                    </a:lnR>
                    <a:solidFill>
                      <a:srgbClr val="F2F6F8"/>
                    </a:solidFill>
                  </a:tcPr>
                </a:tc>
              </a:tr>
              <a:tr h="566750">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L</a:t>
                      </a:r>
                      <a:endParaRPr/>
                    </a:p>
                  </a:txBody>
                  <a:tcPr marT="45725" marB="45725" marR="91450" marL="91450" anchor="ctr">
                    <a:lnL cap="flat" cmpd="sng" w="9525">
                      <a:solidFill>
                        <a:srgbClr val="D5E0E6"/>
                      </a:solidFill>
                      <a:prstDash val="solid"/>
                      <a:round/>
                      <a:headEnd len="sm" w="sm" type="none"/>
                      <a:tailEnd len="sm" w="sm" type="none"/>
                    </a:lnL>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15</a:t>
                      </a:r>
                      <a:endParaRPr/>
                    </a:p>
                  </a:txBody>
                  <a:tcPr marT="45725" marB="45725" marR="91450" marL="91450" anchor="ctr">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4</a:t>
                      </a:r>
                      <a:endParaRPr/>
                    </a:p>
                  </a:txBody>
                  <a:tcPr marT="45725" marB="45725" marR="91450" marL="91450" anchor="ctr">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1800"/>
                        <a:buFont typeface="Arial"/>
                        <a:buNone/>
                      </a:pPr>
                      <a:r>
                        <a:rPr b="0" lang="en-US" sz="1800">
                          <a:solidFill>
                            <a:srgbClr val="15263B"/>
                          </a:solidFill>
                          <a:latin typeface="Arial"/>
                          <a:ea typeface="Arial"/>
                          <a:cs typeface="Arial"/>
                          <a:sym typeface="Arial"/>
                        </a:rPr>
                        <a:t>30</a:t>
                      </a:r>
                      <a:endParaRPr/>
                    </a:p>
                  </a:txBody>
                  <a:tcPr marT="45725" marB="45725" marR="91450" marL="91450" anchor="ctr">
                    <a:lnR cap="flat" cmpd="sng" w="9525">
                      <a:solidFill>
                        <a:srgbClr val="D5E0E6"/>
                      </a:solidFill>
                      <a:prstDash val="solid"/>
                      <a:round/>
                      <a:headEnd len="sm" w="sm" type="none"/>
                      <a:tailEnd len="sm" w="sm" type="none"/>
                    </a:lnR>
                    <a:lnB cap="flat" cmpd="sng" w="9525">
                      <a:solidFill>
                        <a:srgbClr val="D5E0E6"/>
                      </a:solidFill>
                      <a:prstDash val="solid"/>
                      <a:round/>
                      <a:headEnd len="sm" w="sm" type="none"/>
                      <a:tailEnd len="sm" w="sm" type="none"/>
                    </a:lnB>
                    <a:solidFill>
                      <a:srgbClr val="FFFFFF"/>
                    </a:solidFill>
                  </a:tcPr>
                </a:tc>
              </a:tr>
            </a:tbl>
          </a:graphicData>
        </a:graphic>
      </p:graphicFrame>
      <p:sp>
        <p:nvSpPr>
          <p:cNvPr id="56" name="Google Shape;56;p10"/>
          <p:cNvSpPr/>
          <p:nvPr/>
        </p:nvSpPr>
        <p:spPr>
          <a:xfrm>
            <a:off x="609600" y="4143375"/>
            <a:ext cx="471487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87F8C"/>
                </a:solidFill>
                <a:latin typeface="Arial"/>
                <a:ea typeface="Arial"/>
                <a:cs typeface="Arial"/>
                <a:sym typeface="Arial"/>
              </a:rPr>
              <a:t>Minimize total depot-to-depot distance.</a:t>
            </a:r>
            <a:endParaRPr/>
          </a:p>
        </p:txBody>
      </p:sp>
      <p:sp>
        <p:nvSpPr>
          <p:cNvPr id="57" name="Google Shape;57;p10"/>
          <p:cNvSpPr/>
          <p:nvPr/>
        </p:nvSpPr>
        <p:spPr>
          <a:xfrm>
            <a:off x="609600" y="4991100"/>
            <a:ext cx="4810125"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5263B"/>
                </a:solidFill>
                <a:latin typeface="Arial"/>
                <a:ea typeface="Arial"/>
                <a:cs typeface="Arial"/>
                <a:sym typeface="Arial"/>
              </a:rPr>
              <a:t>Serve every customer once.</a:t>
            </a:r>
            <a:endParaRPr/>
          </a:p>
          <a:p>
            <a:pPr indent="0" lvl="0" marL="0" marR="0" rtl="0" algn="l">
              <a:spcBef>
                <a:spcPts val="0"/>
              </a:spcBef>
              <a:spcAft>
                <a:spcPts val="0"/>
              </a:spcAft>
              <a:buNone/>
            </a:pPr>
            <a:r>
              <a:rPr b="0" lang="en-US" sz="2025">
                <a:solidFill>
                  <a:srgbClr val="15263B"/>
                </a:solidFill>
                <a:latin typeface="Arial"/>
                <a:ea typeface="Arial"/>
                <a:cs typeface="Arial"/>
                <a:sym typeface="Arial"/>
              </a:rPr>
              <a:t>Respect each vehicle’s capacity.</a:t>
            </a:r>
            <a:endParaRPr/>
          </a:p>
          <a:p>
            <a:pPr indent="0" lvl="0" marL="0" marR="0" rtl="0" algn="l">
              <a:spcBef>
                <a:spcPts val="0"/>
              </a:spcBef>
              <a:spcAft>
                <a:spcPts val="0"/>
              </a:spcAft>
              <a:buNone/>
            </a:pPr>
            <a:r>
              <a:rPr b="0" lang="en-US" sz="2025">
                <a:solidFill>
                  <a:srgbClr val="15263B"/>
                </a:solidFill>
                <a:latin typeface="Arial"/>
                <a:ea typeface="Arial"/>
                <a:cs typeface="Arial"/>
                <a:sym typeface="Arial"/>
              </a:rPr>
              <a:t>Allow unused vehicles.</a:t>
            </a:r>
            <a:endParaRPr/>
          </a:p>
        </p:txBody>
      </p:sp>
      <p:pic>
        <p:nvPicPr>
          <p:cNvPr id="58" name="Google Shape;58;p10"/>
          <p:cNvPicPr preferRelativeResize="0"/>
          <p:nvPr/>
        </p:nvPicPr>
        <p:blipFill rotWithShape="1">
          <a:blip r:embed="rId3">
            <a:alphaModFix/>
          </a:blip>
          <a:srcRect b="0" l="0" r="0" t="0"/>
          <a:stretch/>
        </p:blipFill>
        <p:spPr>
          <a:xfrm>
            <a:off x="5781675" y="1560513"/>
            <a:ext cx="5876925" cy="3917950"/>
          </a:xfrm>
          <a:prstGeom prst="rect">
            <a:avLst/>
          </a:prstGeom>
          <a:noFill/>
          <a:ln>
            <a:noFill/>
          </a:ln>
        </p:spPr>
      </p:pic>
      <p:sp>
        <p:nvSpPr>
          <p:cNvPr id="59" name="Google Shape;59;p10"/>
          <p:cNvSpPr/>
          <p:nvPr/>
        </p:nvSpPr>
        <p:spPr>
          <a:xfrm>
            <a:off x="5915025" y="5743575"/>
            <a:ext cx="5524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506176"/>
                </a:solidFill>
                <a:latin typeface="Arial"/>
                <a:ea typeface="Arial"/>
                <a:cs typeface="Arial"/>
                <a:sym typeface="Arial"/>
              </a:rPr>
              <a:t>Saved L₁₁ example: quantum clustering with exact classical tours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1"/>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QUBO formulation and capacity slack</a:t>
            </a:r>
            <a:endParaRPr b="1" sz="3150">
              <a:solidFill>
                <a:srgbClr val="15263B"/>
              </a:solidFill>
            </a:endParaRPr>
          </a:p>
        </p:txBody>
      </p:sp>
      <p:sp>
        <p:nvSpPr>
          <p:cNvPr id="66" name="Google Shape;66;p11"/>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04</a:t>
            </a:r>
            <a:endParaRPr/>
          </a:p>
        </p:txBody>
      </p:sp>
      <p:sp>
        <p:nvSpPr>
          <p:cNvPr id="67" name="Google Shape;67;p11"/>
          <p:cNvSpPr/>
          <p:nvPr/>
        </p:nvSpPr>
        <p:spPr>
          <a:xfrm>
            <a:off x="609600" y="1409700"/>
            <a:ext cx="10477500" cy="400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00">
                <a:solidFill>
                  <a:srgbClr val="087F8C"/>
                </a:solidFill>
              </a:rPr>
              <a:t>Binary decisions become an energy</a:t>
            </a:r>
            <a:endParaRPr b="1" sz="2100">
              <a:solidFill>
                <a:srgbClr val="087F8C"/>
              </a:solidFill>
            </a:endParaRPr>
          </a:p>
        </p:txBody>
      </p:sp>
      <p:sp>
        <p:nvSpPr>
          <p:cNvPr id="68" name="Google Shape;68;p11"/>
          <p:cNvSpPr/>
          <p:nvPr/>
        </p:nvSpPr>
        <p:spPr>
          <a:xfrm>
            <a:off x="609600" y="2914650"/>
            <a:ext cx="10668000"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2025">
                <a:solidFill>
                  <a:srgbClr val="15263B"/>
                </a:solidFill>
              </a:rPr>
              <a:t>Linear terms score selections. Pair terms score joint choices.</a:t>
            </a:r>
            <a:endParaRPr sz="2025">
              <a:solidFill>
                <a:srgbClr val="15263B"/>
              </a:solidFill>
            </a:endParaRPr>
          </a:p>
        </p:txBody>
      </p:sp>
      <p:sp>
        <p:nvSpPr>
          <p:cNvPr id="69" name="Google Shape;69;p11"/>
          <p:cNvSpPr/>
          <p:nvPr/>
        </p:nvSpPr>
        <p:spPr>
          <a:xfrm>
            <a:off x="609600" y="3714750"/>
            <a:ext cx="10477500" cy="381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00">
                <a:solidFill>
                  <a:srgbClr val="087F8C"/>
                </a:solidFill>
              </a:rPr>
              <a:t>Slack represents unused vehicle capacity</a:t>
            </a:r>
            <a:endParaRPr b="1" sz="2100">
              <a:solidFill>
                <a:srgbClr val="087F8C"/>
              </a:solidFill>
            </a:endParaRPr>
          </a:p>
        </p:txBody>
      </p:sp>
      <p:sp>
        <p:nvSpPr>
          <p:cNvPr id="70" name="Google Shape;70;p11"/>
          <p:cNvSpPr/>
          <p:nvPr/>
        </p:nvSpPr>
        <p:spPr>
          <a:xfrm>
            <a:off x="609600" y="5162550"/>
            <a:ext cx="10477500" cy="447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2175">
                <a:solidFill>
                  <a:srgbClr val="15263B"/>
                </a:solidFill>
              </a:rPr>
              <a:t>Load 5 + unused capacity 2 = capacity 7</a:t>
            </a:r>
            <a:endParaRPr sz="2175">
              <a:solidFill>
                <a:srgbClr val="15263B"/>
              </a:solidFill>
            </a:endParaRPr>
          </a:p>
        </p:txBody>
      </p:sp>
      <p:sp>
        <p:nvSpPr>
          <p:cNvPr id="71" name="Google Shape;71;p11"/>
          <p:cNvSpPr/>
          <p:nvPr/>
        </p:nvSpPr>
        <p:spPr>
          <a:xfrm>
            <a:off x="609600" y="6029325"/>
            <a:ext cx="10668000" cy="419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650">
                <a:solidFill>
                  <a:srgbClr val="506176"/>
                </a:solidFill>
              </a:rPr>
              <a:t>The exact slack model is a reference. Our executed sampler checks capacity classically.</a:t>
            </a:r>
            <a:endParaRPr sz="1650">
              <a:solidFill>
                <a:srgbClr val="506176"/>
              </a:solidFill>
            </a:endParaRPr>
          </a:p>
        </p:txBody>
      </p:sp>
      <p:pic>
        <p:nvPicPr>
          <p:cNvPr descr="E(\mathbf b)=c_0+\sum_i h_i b_i+\sum_{i&lt;j}J_{ij}b_i b_j,\qquad b_i\in\{0,1\}" id="72" name="Google Shape;72;p11" title="Typeset mathematical equation"/>
          <p:cNvPicPr preferRelativeResize="0"/>
          <p:nvPr/>
        </p:nvPicPr>
        <p:blipFill>
          <a:blip r:embed="rId3">
            <a:alphaModFix/>
          </a:blip>
          <a:stretch>
            <a:fillRect/>
          </a:stretch>
        </p:blipFill>
        <p:spPr>
          <a:xfrm>
            <a:off x="609600" y="2103859"/>
            <a:ext cx="7602621" cy="526207"/>
          </a:xfrm>
          <a:prstGeom prst="rect">
            <a:avLst/>
          </a:prstGeom>
          <a:noFill/>
          <a:ln>
            <a:noFill/>
          </a:ln>
        </p:spPr>
      </p:pic>
      <p:pic>
        <p:nvPicPr>
          <p:cNvPr descr="3x_1+2x_2+s=7,\qquad s=u_0+2u_1+4u_2" id="73" name="Google Shape;73;p11" title="Typeset mathematical equation"/>
          <p:cNvPicPr preferRelativeResize="0"/>
          <p:nvPr/>
        </p:nvPicPr>
        <p:blipFill>
          <a:blip r:embed="rId4">
            <a:alphaModFix/>
          </a:blip>
          <a:stretch>
            <a:fillRect/>
          </a:stretch>
        </p:blipFill>
        <p:spPr>
          <a:xfrm>
            <a:off x="609600" y="4422004"/>
            <a:ext cx="5985495" cy="2809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12"/>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The implemented hybrid solver</a:t>
            </a:r>
            <a:endParaRPr b="1" sz="3150">
              <a:solidFill>
                <a:srgbClr val="15263B"/>
              </a:solidFill>
            </a:endParaRPr>
          </a:p>
        </p:txBody>
      </p:sp>
      <p:sp>
        <p:nvSpPr>
          <p:cNvPr id="80" name="Google Shape;80;p12"/>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05</a:t>
            </a:r>
            <a:endParaRPr/>
          </a:p>
        </p:txBody>
      </p:sp>
      <p:sp>
        <p:nvSpPr>
          <p:cNvPr id="81" name="Google Shape;81;p12"/>
          <p:cNvSpPr/>
          <p:nvPr/>
        </p:nvSpPr>
        <p:spPr>
          <a:xfrm>
            <a:off x="609600" y="1457325"/>
            <a:ext cx="5381700" cy="419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75">
                <a:solidFill>
                  <a:srgbClr val="087F8C"/>
                </a:solidFill>
              </a:rPr>
              <a:t>Propose the next group</a:t>
            </a:r>
            <a:endParaRPr b="1" sz="2175">
              <a:solidFill>
                <a:srgbClr val="087F8C"/>
              </a:solidFill>
            </a:endParaRPr>
          </a:p>
        </p:txBody>
      </p:sp>
      <p:sp>
        <p:nvSpPr>
          <p:cNvPr id="82" name="Google Shape;82;p12"/>
          <p:cNvSpPr/>
          <p:nvPr/>
        </p:nvSpPr>
        <p:spPr>
          <a:xfrm>
            <a:off x="609600" y="4286250"/>
            <a:ext cx="5362500" cy="13527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950">
                <a:solidFill>
                  <a:srgbClr val="15263B"/>
                </a:solidFill>
              </a:rPr>
              <a:t>At most 8 candidate customers per call.</a:t>
            </a:r>
            <a:endParaRPr sz="1950">
              <a:solidFill>
                <a:srgbClr val="15263B"/>
              </a:solidFill>
            </a:endParaRPr>
          </a:p>
          <a:p>
            <a:pPr indent="0" lvl="0" marL="0" marR="0" rtl="0" algn="l">
              <a:lnSpc>
                <a:spcPct val="112000"/>
              </a:lnSpc>
              <a:spcBef>
                <a:spcPts val="0"/>
              </a:spcBef>
              <a:spcAft>
                <a:spcPts val="0"/>
              </a:spcAft>
              <a:buNone/>
            </a:pPr>
            <a:r>
              <a:rPr lang="en-US" sz="1950">
                <a:solidFill>
                  <a:srgbClr val="15263B"/>
                </a:solidFill>
              </a:rPr>
              <a:t>Group size is centered near |R|/L.</a:t>
            </a:r>
            <a:endParaRPr sz="1950">
              <a:solidFill>
                <a:srgbClr val="15263B"/>
              </a:solidFill>
            </a:endParaRPr>
          </a:p>
          <a:p>
            <a:pPr indent="0" lvl="0" marL="0" marR="0" rtl="0" algn="l">
              <a:lnSpc>
                <a:spcPct val="112000"/>
              </a:lnSpc>
              <a:spcBef>
                <a:spcPts val="0"/>
              </a:spcBef>
              <a:spcAft>
                <a:spcPts val="0"/>
              </a:spcAft>
              <a:buNone/>
            </a:pPr>
            <a:r>
              <a:rPr lang="en-US" sz="1950">
                <a:solidFill>
                  <a:srgbClr val="15263B"/>
                </a:solidFill>
              </a:rPr>
              <a:t>Classical checks reject overloaded proposals.</a:t>
            </a:r>
            <a:endParaRPr sz="1950">
              <a:solidFill>
                <a:srgbClr val="15263B"/>
              </a:solidFill>
            </a:endParaRPr>
          </a:p>
        </p:txBody>
      </p:sp>
      <p:sp>
        <p:nvSpPr>
          <p:cNvPr id="83" name="Google Shape;83;p12"/>
          <p:cNvSpPr/>
          <p:nvPr/>
        </p:nvSpPr>
        <p:spPr>
          <a:xfrm>
            <a:off x="6743700" y="1457325"/>
            <a:ext cx="4762500" cy="419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75">
                <a:solidFill>
                  <a:srgbClr val="087F8C"/>
                </a:solidFill>
              </a:rPr>
              <a:t>Order each group’s stops</a:t>
            </a:r>
            <a:endParaRPr b="1" sz="2175">
              <a:solidFill>
                <a:srgbClr val="087F8C"/>
              </a:solidFill>
            </a:endParaRPr>
          </a:p>
        </p:txBody>
      </p:sp>
      <p:sp>
        <p:nvSpPr>
          <p:cNvPr id="84" name="Google Shape;84;p12"/>
          <p:cNvSpPr/>
          <p:nvPr/>
        </p:nvSpPr>
        <p:spPr>
          <a:xfrm>
            <a:off x="6743700" y="3762375"/>
            <a:ext cx="4762500" cy="1848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950">
                <a:solidFill>
                  <a:srgbClr val="15263B"/>
                </a:solidFill>
              </a:rPr>
              <a:t>4 customers: 10 edge bits</a:t>
            </a:r>
            <a:endParaRPr sz="1950">
              <a:solidFill>
                <a:srgbClr val="15263B"/>
              </a:solidFill>
            </a:endParaRPr>
          </a:p>
          <a:p>
            <a:pPr indent="0" lvl="0" marL="0" marR="0" rtl="0" algn="l">
              <a:lnSpc>
                <a:spcPct val="112000"/>
              </a:lnSpc>
              <a:spcBef>
                <a:spcPts val="0"/>
              </a:spcBef>
              <a:spcAft>
                <a:spcPts val="0"/>
              </a:spcAft>
              <a:buNone/>
            </a:pPr>
            <a:r>
              <a:rPr lang="en-US" sz="1950">
                <a:solidFill>
                  <a:srgbClr val="15263B"/>
                </a:solidFill>
              </a:rPr>
              <a:t>or 16 position bits.</a:t>
            </a:r>
            <a:endParaRPr sz="1950">
              <a:solidFill>
                <a:srgbClr val="15263B"/>
              </a:solidFill>
            </a:endParaRPr>
          </a:p>
          <a:p>
            <a:pPr indent="0" lvl="0" marL="0" marR="0" rtl="0" algn="l">
              <a:lnSpc>
                <a:spcPct val="112000"/>
              </a:lnSpc>
              <a:spcBef>
                <a:spcPts val="0"/>
              </a:spcBef>
              <a:spcAft>
                <a:spcPts val="0"/>
              </a:spcAft>
              <a:buNone/>
            </a:pPr>
            <a:r>
              <a:t/>
            </a:r>
            <a:endParaRPr sz="1950">
              <a:solidFill>
                <a:srgbClr val="15263B"/>
              </a:solidFill>
            </a:endParaRPr>
          </a:p>
          <a:p>
            <a:pPr indent="0" lvl="0" marL="0" marR="0" rtl="0" algn="l">
              <a:lnSpc>
                <a:spcPct val="112000"/>
              </a:lnSpc>
              <a:spcBef>
                <a:spcPts val="0"/>
              </a:spcBef>
              <a:spcAft>
                <a:spcPts val="0"/>
              </a:spcAft>
              <a:buNone/>
            </a:pPr>
            <a:r>
              <a:rPr lang="en-US" sz="1950">
                <a:solidFill>
                  <a:srgbClr val="15263B"/>
                </a:solidFill>
              </a:rPr>
              <a:t>A strict decoder checks every sampled tour.</a:t>
            </a:r>
            <a:endParaRPr sz="1950">
              <a:solidFill>
                <a:srgbClr val="15263B"/>
              </a:solidFill>
            </a:endParaRPr>
          </a:p>
        </p:txBody>
      </p:sp>
      <p:sp>
        <p:nvSpPr>
          <p:cNvPr id="85" name="Google Shape;85;p12"/>
          <p:cNvSpPr/>
          <p:nvPr/>
        </p:nvSpPr>
        <p:spPr>
          <a:xfrm>
            <a:off x="609600" y="6048375"/>
            <a:ext cx="10620300" cy="4383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575">
                <a:solidFill>
                  <a:srgbClr val="506176"/>
                </a:solidFill>
              </a:rPr>
              <a:t>Official benchmark: groups of ≤3 or &gt;4 customers use classical routing. Atlas Orbit samples all three tours.</a:t>
            </a:r>
            <a:endParaRPr sz="1575">
              <a:solidFill>
                <a:srgbClr val="506176"/>
              </a:solidFill>
            </a:endParaRPr>
          </a:p>
        </p:txBody>
      </p:sp>
      <p:pic>
        <p:nvPicPr>
          <p:cNvPr descr="\begin{aligned}E_{\mathrm{cl}}/\kappa&amp;=\lambda m^2-\mu m\\&amp;\quad+\sum_{i&lt;j}w_{ij}b_i b_j\end{aligned}" id="86" name="Google Shape;86;p12" title="Typeset mathematical equation"/>
          <p:cNvPicPr preferRelativeResize="0"/>
          <p:nvPr/>
        </p:nvPicPr>
        <p:blipFill>
          <a:blip r:embed="rId3">
            <a:alphaModFix/>
          </a:blip>
          <a:stretch>
            <a:fillRect/>
          </a:stretch>
        </p:blipFill>
        <p:spPr>
          <a:xfrm>
            <a:off x="610884" y="2198218"/>
            <a:ext cx="3052992" cy="918515"/>
          </a:xfrm>
          <a:prstGeom prst="rect">
            <a:avLst/>
          </a:prstGeom>
          <a:noFill/>
          <a:ln>
            <a:noFill/>
          </a:ln>
        </p:spPr>
      </p:pic>
      <p:pic>
        <p:nvPicPr>
          <p:cNvPr descr="m=\sum_i b_i,\qquad \mu=2\lambda\frac{|R|}{L}" id="87" name="Google Shape;87;p12" title="Typeset mathematical equation"/>
          <p:cNvPicPr preferRelativeResize="0"/>
          <p:nvPr/>
        </p:nvPicPr>
        <p:blipFill>
          <a:blip r:embed="rId4">
            <a:alphaModFix/>
          </a:blip>
          <a:stretch>
            <a:fillRect/>
          </a:stretch>
        </p:blipFill>
        <p:spPr>
          <a:xfrm>
            <a:off x="612389" y="3353205"/>
            <a:ext cx="3112488" cy="551640"/>
          </a:xfrm>
          <a:prstGeom prst="rect">
            <a:avLst/>
          </a:prstGeom>
          <a:noFill/>
          <a:ln>
            <a:noFill/>
          </a:ln>
        </p:spPr>
      </p:pic>
      <p:pic>
        <p:nvPicPr>
          <p:cNvPr descr="\begin{aligned}E_{\mathrm{edge}}&amp;=\sum_e\widetilde c_e e_e\\&amp;\quad+A\sum_v\bigl(D_v(\mathbf e)-2\bigr)^2\end{aligned}" id="88" name="Google Shape;88;p12" title="Typeset mathematical equation"/>
          <p:cNvPicPr preferRelativeResize="0"/>
          <p:nvPr/>
        </p:nvPicPr>
        <p:blipFill>
          <a:blip r:embed="rId5">
            <a:alphaModFix/>
          </a:blip>
          <a:stretch>
            <a:fillRect/>
          </a:stretch>
        </p:blipFill>
        <p:spPr>
          <a:xfrm>
            <a:off x="6743700" y="2191978"/>
            <a:ext cx="3659697" cy="969093"/>
          </a:xfrm>
          <a:prstGeom prst="rect">
            <a:avLst/>
          </a:prstGeom>
          <a:noFill/>
          <a:ln>
            <a:noFill/>
          </a:ln>
        </p:spPr>
      </p:pic>
      <p:sp>
        <p:nvSpPr>
          <p:cNvPr id="89" name="Google Shape;89;p12"/>
          <p:cNvSpPr txBox="1"/>
          <p:nvPr/>
        </p:nvSpPr>
        <p:spPr>
          <a:xfrm>
            <a:off x="609600" y="5562600"/>
            <a:ext cx="5334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06176"/>
                </a:solidFill>
              </a:rPr>
              <a:t>λ = 0.15; κ &gt; 0 sets the energy scale.</a:t>
            </a:r>
            <a:endParaRPr sz="1500">
              <a:solidFill>
                <a:srgbClr val="506176"/>
              </a:solidFill>
            </a:endParaRPr>
          </a:p>
        </p:txBody>
      </p:sp>
      <p:sp>
        <p:nvSpPr>
          <p:cNvPr id="90" name="Google Shape;90;p12"/>
          <p:cNvSpPr txBox="1"/>
          <p:nvPr/>
        </p:nvSpPr>
        <p:spPr>
          <a:xfrm>
            <a:off x="6743700" y="5562600"/>
            <a:ext cx="4762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06176"/>
                </a:solidFill>
              </a:rPr>
              <a:t>Degree = selected edges at a location.</a:t>
            </a:r>
            <a:endParaRPr sz="1500">
              <a:solidFill>
                <a:srgbClr val="50617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13"/>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Mapping QUBO coefficients to atoms</a:t>
            </a:r>
            <a:endParaRPr b="1" sz="3150">
              <a:solidFill>
                <a:srgbClr val="15263B"/>
              </a:solidFill>
            </a:endParaRPr>
          </a:p>
        </p:txBody>
      </p:sp>
      <p:sp>
        <p:nvSpPr>
          <p:cNvPr id="97" name="Google Shape;97;p13"/>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06</a:t>
            </a:r>
            <a:endParaRPr/>
          </a:p>
        </p:txBody>
      </p:sp>
      <p:pic>
        <p:nvPicPr>
          <p:cNvPr id="98" name="Google Shape;98;p13"/>
          <p:cNvPicPr preferRelativeResize="0"/>
          <p:nvPr/>
        </p:nvPicPr>
        <p:blipFill rotWithShape="1">
          <a:blip r:embed="rId3">
            <a:alphaModFix/>
          </a:blip>
          <a:srcRect b="0" l="0" r="0" t="0"/>
          <a:stretch/>
        </p:blipFill>
        <p:spPr>
          <a:xfrm>
            <a:off x="514350" y="3143250"/>
            <a:ext cx="6105525" cy="2857500"/>
          </a:xfrm>
          <a:prstGeom prst="rect">
            <a:avLst/>
          </a:prstGeom>
          <a:noFill/>
          <a:ln>
            <a:noFill/>
          </a:ln>
        </p:spPr>
      </p:pic>
      <p:sp>
        <p:nvSpPr>
          <p:cNvPr id="99" name="Google Shape;99;p13"/>
          <p:cNvSpPr/>
          <p:nvPr/>
        </p:nvSpPr>
        <p:spPr>
          <a:xfrm>
            <a:off x="7000875" y="3409950"/>
            <a:ext cx="4476900" cy="2143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2100">
                <a:solidFill>
                  <a:srgbClr val="15263B"/>
                </a:solidFill>
              </a:rPr>
              <a:t>Detuning sets selection costs.</a:t>
            </a:r>
            <a:endParaRPr sz="2100">
              <a:solidFill>
                <a:srgbClr val="15263B"/>
              </a:solidFill>
            </a:endParaRPr>
          </a:p>
          <a:p>
            <a:pPr indent="0" lvl="0" marL="0" marR="0" rtl="0" algn="l">
              <a:lnSpc>
                <a:spcPct val="112000"/>
              </a:lnSpc>
              <a:spcBef>
                <a:spcPts val="0"/>
              </a:spcBef>
              <a:spcAft>
                <a:spcPts val="0"/>
              </a:spcAft>
              <a:buNone/>
            </a:pPr>
            <a:r>
              <a:t/>
            </a:r>
            <a:endParaRPr sz="2100">
              <a:solidFill>
                <a:srgbClr val="15263B"/>
              </a:solidFill>
            </a:endParaRPr>
          </a:p>
          <a:p>
            <a:pPr indent="0" lvl="0" marL="0" marR="0" rtl="0" algn="l">
              <a:lnSpc>
                <a:spcPct val="112000"/>
              </a:lnSpc>
              <a:spcBef>
                <a:spcPts val="0"/>
              </a:spcBef>
              <a:spcAft>
                <a:spcPts val="0"/>
              </a:spcAft>
              <a:buNone/>
            </a:pPr>
            <a:r>
              <a:rPr lang="en-US" sz="2100">
                <a:solidFill>
                  <a:srgbClr val="15263B"/>
                </a:solidFill>
              </a:rPr>
              <a:t>Atom separation sets pair costs.</a:t>
            </a:r>
            <a:endParaRPr sz="2100">
              <a:solidFill>
                <a:srgbClr val="15263B"/>
              </a:solidFill>
            </a:endParaRPr>
          </a:p>
          <a:p>
            <a:pPr indent="0" lvl="0" marL="0" marR="0" rtl="0" algn="l">
              <a:lnSpc>
                <a:spcPct val="112000"/>
              </a:lnSpc>
              <a:spcBef>
                <a:spcPts val="0"/>
              </a:spcBef>
              <a:spcAft>
                <a:spcPts val="0"/>
              </a:spcAft>
              <a:buNone/>
            </a:pPr>
            <a:r>
              <a:t/>
            </a:r>
            <a:endParaRPr sz="2100">
              <a:solidFill>
                <a:srgbClr val="15263B"/>
              </a:solidFill>
            </a:endParaRPr>
          </a:p>
          <a:p>
            <a:pPr indent="0" lvl="0" marL="0" marR="0" rtl="0" algn="l">
              <a:lnSpc>
                <a:spcPct val="112000"/>
              </a:lnSpc>
              <a:spcBef>
                <a:spcPts val="0"/>
              </a:spcBef>
              <a:spcAft>
                <a:spcPts val="0"/>
              </a:spcAft>
              <a:buNone/>
            </a:pPr>
            <a:r>
              <a:rPr lang="en-US" sz="2100">
                <a:solidFill>
                  <a:srgbClr val="15263B"/>
                </a:solidFill>
              </a:rPr>
              <a:t>The drive prepares the state.</a:t>
            </a:r>
            <a:endParaRPr sz="2100">
              <a:solidFill>
                <a:srgbClr val="15263B"/>
              </a:solidFill>
            </a:endParaRPr>
          </a:p>
        </p:txBody>
      </p:sp>
      <p:sp>
        <p:nvSpPr>
          <p:cNvPr id="100" name="Google Shape;100;p13"/>
          <p:cNvSpPr/>
          <p:nvPr/>
        </p:nvSpPr>
        <p:spPr>
          <a:xfrm>
            <a:off x="685800" y="6076950"/>
            <a:ext cx="5953125" cy="25717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425">
                <a:solidFill>
                  <a:srgbClr val="506176"/>
                </a:solidFill>
              </a:rPr>
              <a:t>Baseline pulse at 15 remaining customers / 4 vehicles</a:t>
            </a:r>
            <a:endParaRPr sz="1425">
              <a:solidFill>
                <a:srgbClr val="506176"/>
              </a:solidFill>
            </a:endParaRPr>
          </a:p>
        </p:txBody>
      </p:sp>
      <p:sp>
        <p:nvSpPr>
          <p:cNvPr id="101" name="Google Shape;101;p13"/>
          <p:cNvSpPr/>
          <p:nvPr/>
        </p:nvSpPr>
        <p:spPr>
          <a:xfrm>
            <a:off x="7000875" y="5819775"/>
            <a:ext cx="4476900" cy="628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1650">
                <a:solidFill>
                  <a:srgbClr val="087F8C"/>
                </a:solidFill>
              </a:rPr>
              <a:t>5.2 µs pulse duration</a:t>
            </a:r>
            <a:endParaRPr b="1" sz="1650">
              <a:solidFill>
                <a:srgbClr val="087F8C"/>
              </a:solidFill>
            </a:endParaRPr>
          </a:p>
          <a:p>
            <a:pPr indent="0" lvl="0" marL="0" marR="0" rtl="0" algn="l">
              <a:lnSpc>
                <a:spcPct val="112000"/>
              </a:lnSpc>
              <a:spcBef>
                <a:spcPts val="0"/>
              </a:spcBef>
              <a:spcAft>
                <a:spcPts val="0"/>
              </a:spcAft>
              <a:buNone/>
            </a:pPr>
            <a:r>
              <a:rPr b="1" lang="en-US" sz="1650">
                <a:solidFill>
                  <a:srgbClr val="087F8C"/>
                </a:solidFill>
              </a:rPr>
              <a:t>Local CPU emulation; DMM adds local detuning</a:t>
            </a:r>
            <a:endParaRPr b="1" sz="1650">
              <a:solidFill>
                <a:srgbClr val="087F8C"/>
              </a:solidFill>
            </a:endParaRPr>
          </a:p>
        </p:txBody>
      </p:sp>
      <p:pic>
        <p:nvPicPr>
          <p:cNvPr descr="\frac{H(t)}{\hbar}=\frac{\Omega(t)}{2}\sum_i X_i-\sum_i\delta_i(t)n_i+\sum_{i&lt;j}\frac{\Gamma}{r_{ij}^{6}}\,n_i n_j" id="102" name="Google Shape;102;p13" title="Typeset mathematical equation"/>
          <p:cNvPicPr preferRelativeResize="0"/>
          <p:nvPr/>
        </p:nvPicPr>
        <p:blipFill>
          <a:blip r:embed="rId4">
            <a:alphaModFix/>
          </a:blip>
          <a:stretch>
            <a:fillRect/>
          </a:stretch>
        </p:blipFill>
        <p:spPr>
          <a:xfrm>
            <a:off x="610673" y="1510973"/>
            <a:ext cx="7425934" cy="873779"/>
          </a:xfrm>
          <a:prstGeom prst="rect">
            <a:avLst/>
          </a:prstGeom>
          <a:noFill/>
          <a:ln>
            <a:noFill/>
          </a:ln>
        </p:spPr>
      </p:pic>
      <p:pic>
        <p:nvPicPr>
          <p:cNvPr descr="h_i^{\mathrm{real}}=-\delta_i(T),\qquad J_{ij}^{\mathrm{real}}=\frac{\Gamma}{r_{ij}^{6}}" id="103" name="Google Shape;103;p13" title="Typeset mathematical equation"/>
          <p:cNvPicPr preferRelativeResize="0"/>
          <p:nvPr/>
        </p:nvPicPr>
        <p:blipFill>
          <a:blip r:embed="rId5">
            <a:alphaModFix/>
          </a:blip>
          <a:stretch>
            <a:fillRect/>
          </a:stretch>
        </p:blipFill>
        <p:spPr>
          <a:xfrm>
            <a:off x="610099" y="2514600"/>
            <a:ext cx="3433763" cy="666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4"/>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CPLEX leads on the 12-instance benchmark</a:t>
            </a:r>
            <a:endParaRPr/>
          </a:p>
        </p:txBody>
      </p:sp>
      <p:sp>
        <p:nvSpPr>
          <p:cNvPr id="110" name="Google Shape;110;p14"/>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07</a:t>
            </a:r>
            <a:endParaRPr/>
          </a:p>
        </p:txBody>
      </p:sp>
      <p:graphicFrame>
        <p:nvGraphicFramePr>
          <p:cNvPr id="111" name="Google Shape;111;p14"/>
          <p:cNvGraphicFramePr/>
          <p:nvPr/>
        </p:nvGraphicFramePr>
        <p:xfrm>
          <a:off x="609600" y="1562100"/>
          <a:ext cx="3000000" cy="3000000"/>
        </p:xfrm>
        <a:graphic>
          <a:graphicData uri="http://schemas.openxmlformats.org/drawingml/2006/table">
            <a:tbl>
              <a:tblPr>
                <a:noFill/>
                <a:tableStyleId>{2A7FEDC0-A9D9-4AC4-95FF-5C3F1438AFD2}</a:tableStyleId>
              </a:tblPr>
              <a:tblGrid>
                <a:gridCol w="4191000"/>
                <a:gridCol w="3286125"/>
                <a:gridCol w="3362325"/>
              </a:tblGrid>
              <a:tr h="529600">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Metric</a:t>
                      </a:r>
                      <a:endParaRPr/>
                    </a:p>
                  </a:txBody>
                  <a:tcPr marT="45725" marB="45725" marR="91450" marL="91450" anchor="ctr">
                    <a:lnL cap="flat" cmpd="sng" w="9525">
                      <a:solidFill>
                        <a:srgbClr val="D5E0E6"/>
                      </a:solidFill>
                      <a:prstDash val="solid"/>
                      <a:round/>
                      <a:headEnd len="sm" w="sm" type="none"/>
                      <a:tailEnd len="sm" w="sm" type="none"/>
                    </a:lnL>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CPLEX MILP</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2100"/>
                        <a:buFont typeface="Arial"/>
                        <a:buNone/>
                      </a:pPr>
                      <a:r>
                        <a:rPr b="1" lang="en-US" sz="2100">
                          <a:solidFill>
                            <a:srgbClr val="FFFFFF"/>
                          </a:solidFill>
                          <a:latin typeface="Arial"/>
                          <a:ea typeface="Arial"/>
                          <a:cs typeface="Arial"/>
                          <a:sym typeface="Arial"/>
                        </a:rPr>
                        <a:t>QUBO-assisted</a:t>
                      </a:r>
                      <a:endParaRPr/>
                    </a:p>
                  </a:txBody>
                  <a:tcPr marT="45725" marB="45725" marR="91450" marL="91450" anchor="ctr">
                    <a:lnR cap="flat" cmpd="sng" w="9525">
                      <a:solidFill>
                        <a:srgbClr val="D5E0E6"/>
                      </a:solidFill>
                      <a:prstDash val="solid"/>
                      <a:round/>
                      <a:headEnd len="sm" w="sm" type="none"/>
                      <a:tailEnd len="sm" w="sm" type="none"/>
                    </a:lnR>
                    <a:lnT cap="flat" cmpd="sng" w="9525">
                      <a:solidFill>
                        <a:srgbClr val="D5E0E6"/>
                      </a:solidFill>
                      <a:prstDash val="solid"/>
                      <a:round/>
                      <a:headEnd len="sm" w="sm" type="none"/>
                      <a:tailEnd len="sm" w="sm" type="none"/>
                    </a:lnT>
                    <a:solidFill>
                      <a:srgbClr val="0C1524"/>
                    </a:solidFill>
                  </a:tcPr>
                </a:tc>
              </a:tr>
              <a:tr h="529600">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Feasible full routes</a:t>
                      </a:r>
                      <a:endParaRPr/>
                    </a:p>
                  </a:txBody>
                  <a:tcPr marT="45725" marB="45725" marR="91450" marL="91450" anchor="ctr">
                    <a:lnL cap="flat" cmpd="sng" w="9525">
                      <a:solidFill>
                        <a:srgbClr val="D5E0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36/36</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33/36</a:t>
                      </a:r>
                      <a:endParaRPr/>
                    </a:p>
                  </a:txBody>
                  <a:tcPr marT="45725" marB="45725" marR="91450" marL="91450" anchor="ctr">
                    <a:lnR cap="flat" cmpd="sng" w="9525">
                      <a:solidFill>
                        <a:srgbClr val="D5E0E6"/>
                      </a:solidFill>
                      <a:prstDash val="solid"/>
                      <a:round/>
                      <a:headEnd len="sm" w="sm" type="none"/>
                      <a:tailEnd len="sm" w="sm" type="none"/>
                    </a:lnR>
                    <a:solidFill>
                      <a:srgbClr val="FFFFFF"/>
                    </a:solidFill>
                  </a:tcPr>
                </a:tc>
              </a:tr>
              <a:tr h="529600">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Mean route gap*</a:t>
                      </a:r>
                      <a:endParaRPr/>
                    </a:p>
                  </a:txBody>
                  <a:tcPr marT="45725" marB="45725" marR="91450" marL="91450" anchor="ctr">
                    <a:lnL cap="flat" cmpd="sng" w="9525">
                      <a:solidFill>
                        <a:srgbClr val="D5E0E6"/>
                      </a:solidFill>
                      <a:prstDash val="solid"/>
                      <a:round/>
                      <a:headEnd len="sm" w="sm" type="none"/>
                      <a:tailEnd len="sm" w="sm" type="none"/>
                    </a:lnL>
                    <a:solidFill>
                      <a:srgbClr val="F2F6F8"/>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0%</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20.59%</a:t>
                      </a:r>
                      <a:endParaRPr/>
                    </a:p>
                  </a:txBody>
                  <a:tcPr marT="45725" marB="45725" marR="91450" marL="91450" anchor="ctr">
                    <a:lnR cap="flat" cmpd="sng" w="9525">
                      <a:solidFill>
                        <a:srgbClr val="D5E0E6"/>
                      </a:solidFill>
                      <a:prstDash val="solid"/>
                      <a:round/>
                      <a:headEnd len="sm" w="sm" type="none"/>
                      <a:tailEnd len="sm" w="sm" type="none"/>
                    </a:lnR>
                    <a:solidFill>
                      <a:srgbClr val="F2F6F8"/>
                    </a:solidFill>
                  </a:tcPr>
                </a:tc>
              </a:tr>
              <a:tr h="529600">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Median total time</a:t>
                      </a:r>
                      <a:endParaRPr/>
                    </a:p>
                  </a:txBody>
                  <a:tcPr marT="45725" marB="45725" marR="91450" marL="91450" anchor="ctr">
                    <a:lnL cap="flat" cmpd="sng" w="9525">
                      <a:solidFill>
                        <a:srgbClr val="D5E0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0.042 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1.401 s</a:t>
                      </a:r>
                      <a:endParaRPr/>
                    </a:p>
                  </a:txBody>
                  <a:tcPr marT="45725" marB="45725" marR="91450" marL="91450" anchor="ctr">
                    <a:lnR cap="flat" cmpd="sng" w="9525">
                      <a:solidFill>
                        <a:srgbClr val="D5E0E6"/>
                      </a:solidFill>
                      <a:prstDash val="solid"/>
                      <a:round/>
                      <a:headEnd len="sm" w="sm" type="none"/>
                      <a:tailEnd len="sm" w="sm" type="none"/>
                    </a:lnR>
                    <a:solidFill>
                      <a:srgbClr val="FFFFFF"/>
                    </a:solidFill>
                  </a:tcPr>
                </a:tc>
              </a:tr>
              <a:tr h="529600">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Proven optimal runs</a:t>
                      </a:r>
                      <a:endParaRPr/>
                    </a:p>
                  </a:txBody>
                  <a:tcPr marT="45725" marB="45725" marR="91450" marL="91450" anchor="ctr">
                    <a:lnL cap="flat" cmpd="sng" w="9525">
                      <a:solidFill>
                        <a:srgbClr val="D5E0E6"/>
                      </a:solidFill>
                      <a:prstDash val="solid"/>
                      <a:round/>
                      <a:headEnd len="sm" w="sm" type="none"/>
                      <a:tailEnd len="sm" w="sm" type="none"/>
                    </a:lnL>
                    <a:lnB cap="flat" cmpd="sng" w="9525">
                      <a:solidFill>
                        <a:srgbClr val="D5E0E6"/>
                      </a:solidFill>
                      <a:prstDash val="solid"/>
                      <a:round/>
                      <a:headEnd len="sm" w="sm" type="none"/>
                      <a:tailEnd len="sm" w="sm" type="none"/>
                    </a:lnB>
                    <a:solidFill>
                      <a:srgbClr val="F2F6F8"/>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36/36</a:t>
                      </a:r>
                      <a:endParaRPr/>
                    </a:p>
                  </a:txBody>
                  <a:tcPr marT="45725" marB="45725" marR="91450" marL="91450" anchor="ctr">
                    <a:lnB cap="flat" cmpd="sng" w="9525">
                      <a:solidFill>
                        <a:srgbClr val="D5E0E6"/>
                      </a:solidFill>
                      <a:prstDash val="solid"/>
                      <a:round/>
                      <a:headEnd len="sm" w="sm" type="none"/>
                      <a:tailEnd len="sm" w="sm" type="none"/>
                    </a:lnB>
                    <a:solidFill>
                      <a:srgbClr val="F2F6F8"/>
                    </a:solidFill>
                  </a:tcPr>
                </a:tc>
                <a:tc>
                  <a:txBody>
                    <a:bodyPr/>
                    <a:lstStyle/>
                    <a:p>
                      <a:pPr indent="0" lvl="0" marL="0" marR="0" rtl="0" algn="l">
                        <a:spcBef>
                          <a:spcPts val="0"/>
                        </a:spcBef>
                        <a:spcAft>
                          <a:spcPts val="0"/>
                        </a:spcAft>
                        <a:buClr>
                          <a:srgbClr val="15263B"/>
                        </a:buClr>
                        <a:buSzPts val="2100"/>
                        <a:buFont typeface="Arial"/>
                        <a:buNone/>
                      </a:pPr>
                      <a:r>
                        <a:rPr b="0" lang="en-US" sz="2100">
                          <a:solidFill>
                            <a:srgbClr val="15263B"/>
                          </a:solidFill>
                          <a:latin typeface="Arial"/>
                          <a:ea typeface="Arial"/>
                          <a:cs typeface="Arial"/>
                          <a:sym typeface="Arial"/>
                        </a:rPr>
                        <a:t>0/36</a:t>
                      </a:r>
                      <a:endParaRPr/>
                    </a:p>
                  </a:txBody>
                  <a:tcPr marT="45725" marB="45725" marR="91450" marL="91450" anchor="ctr">
                    <a:lnR cap="flat" cmpd="sng" w="9525">
                      <a:solidFill>
                        <a:srgbClr val="D5E0E6"/>
                      </a:solidFill>
                      <a:prstDash val="solid"/>
                      <a:round/>
                      <a:headEnd len="sm" w="sm" type="none"/>
                      <a:tailEnd len="sm" w="sm" type="none"/>
                    </a:lnR>
                    <a:lnB cap="flat" cmpd="sng" w="9525">
                      <a:solidFill>
                        <a:srgbClr val="D5E0E6"/>
                      </a:solidFill>
                      <a:prstDash val="solid"/>
                      <a:round/>
                      <a:headEnd len="sm" w="sm" type="none"/>
                      <a:tailEnd len="sm" w="sm" type="none"/>
                    </a:lnB>
                    <a:solidFill>
                      <a:srgbClr val="F2F6F8"/>
                    </a:solidFill>
                  </a:tcPr>
                </a:tc>
              </a:tr>
            </a:tbl>
          </a:graphicData>
        </a:graphic>
      </p:graphicFrame>
      <p:sp>
        <p:nvSpPr>
          <p:cNvPr id="112" name="Google Shape;112;p14"/>
          <p:cNvSpPr/>
          <p:nvPr/>
        </p:nvSpPr>
        <p:spPr>
          <a:xfrm>
            <a:off x="609600" y="4610100"/>
            <a:ext cx="509587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87F8C"/>
                </a:solidFill>
                <a:latin typeface="Arial"/>
                <a:ea typeface="Arial"/>
                <a:cs typeface="Arial"/>
                <a:sym typeface="Arial"/>
              </a:rPr>
              <a:t>12 instances × 3 repeats</a:t>
            </a:r>
            <a:endParaRPr/>
          </a:p>
        </p:txBody>
      </p:sp>
      <p:sp>
        <p:nvSpPr>
          <p:cNvPr id="113" name="Google Shape;113;p14"/>
          <p:cNvSpPr/>
          <p:nvPr/>
        </p:nvSpPr>
        <p:spPr>
          <a:xfrm>
            <a:off x="609600" y="5133975"/>
            <a:ext cx="5905500" cy="752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15263B"/>
                </a:solidFill>
                <a:latin typeface="Arial"/>
                <a:ea typeface="Arial"/>
                <a:cs typeface="Arial"/>
                <a:sym typeface="Arial"/>
              </a:rPr>
              <a:t>S/M/L, uniform and heterogeneous demands</a:t>
            </a:r>
            <a:endParaRPr/>
          </a:p>
          <a:p>
            <a:pPr indent="0" lvl="0" marL="0" marR="0" rtl="0" algn="l">
              <a:spcBef>
                <a:spcPts val="0"/>
              </a:spcBef>
              <a:spcAft>
                <a:spcPts val="0"/>
              </a:spcAft>
              <a:buNone/>
            </a:pPr>
            <a:r>
              <a:rPr b="0" lang="en-US" sz="1875">
                <a:solidFill>
                  <a:srgbClr val="15263B"/>
                </a:solidFill>
                <a:latin typeface="Arial"/>
                <a:ea typeface="Arial"/>
                <a:cs typeface="Arial"/>
                <a:sym typeface="Arial"/>
              </a:rPr>
              <a:t>Same routing objective and feasibility checks</a:t>
            </a:r>
            <a:endParaRPr/>
          </a:p>
        </p:txBody>
      </p:sp>
      <p:sp>
        <p:nvSpPr>
          <p:cNvPr id="114" name="Google Shape;114;p14"/>
          <p:cNvSpPr/>
          <p:nvPr/>
        </p:nvSpPr>
        <p:spPr>
          <a:xfrm>
            <a:off x="7467600" y="4572000"/>
            <a:ext cx="381000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15263B"/>
                </a:solidFill>
                <a:latin typeface="Arial"/>
                <a:ea typeface="Arial"/>
                <a:cs typeface="Arial"/>
                <a:sym typeface="Arial"/>
              </a:rPr>
              <a:t>797 / 797</a:t>
            </a:r>
            <a:endParaRPr/>
          </a:p>
        </p:txBody>
      </p:sp>
      <p:sp>
        <p:nvSpPr>
          <p:cNvPr id="115" name="Google Shape;115;p14"/>
          <p:cNvSpPr/>
          <p:nvPr/>
        </p:nvSpPr>
        <p:spPr>
          <a:xfrm>
            <a:off x="7467600" y="5295900"/>
            <a:ext cx="3905250" cy="72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06176"/>
                </a:solidFill>
                <a:latin typeface="Arial"/>
                <a:ea typeface="Arial"/>
                <a:cs typeface="Arial"/>
                <a:sym typeface="Arial"/>
              </a:rPr>
              <a:t>target QUBO minima proven by CPLEX</a:t>
            </a:r>
            <a:endParaRPr/>
          </a:p>
          <a:p>
            <a:pPr indent="0" lvl="0" marL="0" marR="0" rtl="0" algn="l">
              <a:spcBef>
                <a:spcPts val="0"/>
              </a:spcBef>
              <a:spcAft>
                <a:spcPts val="0"/>
              </a:spcAft>
              <a:buNone/>
            </a:pPr>
            <a:r>
              <a:rPr b="0" lang="en-US" sz="1725">
                <a:solidFill>
                  <a:srgbClr val="506176"/>
                </a:solidFill>
                <a:latin typeface="Arial"/>
                <a:ea typeface="Arial"/>
                <a:cs typeface="Arial"/>
                <a:sym typeface="Arial"/>
              </a:rPr>
              <a:t>and checked by exhaustive enumeration</a:t>
            </a:r>
            <a:endParaRPr/>
          </a:p>
        </p:txBody>
      </p:sp>
      <p:sp>
        <p:nvSpPr>
          <p:cNvPr id="116" name="Google Shape;116;p14"/>
          <p:cNvSpPr/>
          <p:nvPr/>
        </p:nvSpPr>
        <p:spPr>
          <a:xfrm>
            <a:off x="609600" y="6105525"/>
            <a:ext cx="10572750"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506176"/>
                </a:solidFill>
                <a:latin typeface="Arial"/>
                <a:ea typeface="Arial"/>
                <a:cs typeface="Arial"/>
                <a:sym typeface="Arial"/>
              </a:rPr>
              <a:t>*Mean across 11 instances with successful emulator runs. CPU timings, no QPU. All 3 failures: M_heterogeneous_11.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5"/>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075">
                <a:solidFill>
                  <a:srgbClr val="15263B"/>
                </a:solidFill>
              </a:rPr>
              <a:t>Atlas Orbit matches the optimum on one instance</a:t>
            </a:r>
            <a:endParaRPr b="1" sz="3075">
              <a:solidFill>
                <a:srgbClr val="15263B"/>
              </a:solidFill>
            </a:endParaRPr>
          </a:p>
        </p:txBody>
      </p:sp>
      <p:sp>
        <p:nvSpPr>
          <p:cNvPr id="123" name="Google Shape;123;p15"/>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08</a:t>
            </a:r>
            <a:endParaRPr/>
          </a:p>
        </p:txBody>
      </p:sp>
      <p:sp>
        <p:nvSpPr>
          <p:cNvPr id="124" name="Google Shape;124;p15"/>
          <p:cNvSpPr/>
          <p:nvPr/>
        </p:nvSpPr>
        <p:spPr>
          <a:xfrm>
            <a:off x="7905750" y="1504950"/>
            <a:ext cx="3638700" cy="6381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675">
                <a:solidFill>
                  <a:srgbClr val="087F8C"/>
                </a:solidFill>
              </a:rPr>
              <a:t>428.13 su</a:t>
            </a:r>
            <a:endParaRPr b="1" sz="3675">
              <a:solidFill>
                <a:srgbClr val="087F8C"/>
              </a:solidFill>
            </a:endParaRPr>
          </a:p>
        </p:txBody>
      </p:sp>
      <p:sp>
        <p:nvSpPr>
          <p:cNvPr id="125" name="Google Shape;125;p15"/>
          <p:cNvSpPr/>
          <p:nvPr/>
        </p:nvSpPr>
        <p:spPr>
          <a:xfrm>
            <a:off x="7905750" y="2219325"/>
            <a:ext cx="3638700" cy="723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2025">
                <a:solidFill>
                  <a:srgbClr val="15263B"/>
                </a:solidFill>
              </a:rPr>
              <a:t>Matches the exact CVRP optimum</a:t>
            </a:r>
            <a:endParaRPr sz="2025">
              <a:solidFill>
                <a:srgbClr val="15263B"/>
              </a:solidFill>
            </a:endParaRPr>
          </a:p>
        </p:txBody>
      </p:sp>
      <p:sp>
        <p:nvSpPr>
          <p:cNvPr id="126" name="Google Shape;126;p15"/>
          <p:cNvSpPr/>
          <p:nvPr/>
        </p:nvSpPr>
        <p:spPr>
          <a:xfrm>
            <a:off x="7905750" y="3209925"/>
            <a:ext cx="3638700" cy="504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475">
                <a:solidFill>
                  <a:srgbClr val="15263B"/>
                </a:solidFill>
              </a:rPr>
              <a:t>17.34% less travel</a:t>
            </a:r>
            <a:endParaRPr b="1" sz="2475">
              <a:solidFill>
                <a:srgbClr val="15263B"/>
              </a:solidFill>
            </a:endParaRPr>
          </a:p>
        </p:txBody>
      </p:sp>
      <p:sp>
        <p:nvSpPr>
          <p:cNvPr id="127" name="Google Shape;127;p15"/>
          <p:cNvSpPr/>
          <p:nvPr/>
        </p:nvSpPr>
        <p:spPr>
          <a:xfrm>
            <a:off x="7905750" y="3819525"/>
            <a:ext cx="3638700" cy="752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950">
                <a:solidFill>
                  <a:srgbClr val="506176"/>
                </a:solidFill>
              </a:rPr>
              <a:t>Compared with the prior</a:t>
            </a:r>
            <a:endParaRPr sz="1950">
              <a:solidFill>
                <a:srgbClr val="506176"/>
              </a:solidFill>
            </a:endParaRPr>
          </a:p>
          <a:p>
            <a:pPr indent="0" lvl="0" marL="0" marR="0" rtl="0" algn="l">
              <a:lnSpc>
                <a:spcPct val="112000"/>
              </a:lnSpc>
              <a:spcBef>
                <a:spcPts val="0"/>
              </a:spcBef>
              <a:spcAft>
                <a:spcPts val="0"/>
              </a:spcAft>
              <a:buNone/>
            </a:pPr>
            <a:r>
              <a:rPr lang="en-US" sz="1950">
                <a:solidFill>
                  <a:srgbClr val="506176"/>
                </a:solidFill>
              </a:rPr>
              <a:t>517.93 su demo run</a:t>
            </a:r>
            <a:endParaRPr sz="1950">
              <a:solidFill>
                <a:srgbClr val="506176"/>
              </a:solidFill>
            </a:endParaRPr>
          </a:p>
        </p:txBody>
      </p:sp>
      <p:sp>
        <p:nvSpPr>
          <p:cNvPr id="128" name="Google Shape;128;p15"/>
          <p:cNvSpPr/>
          <p:nvPr/>
        </p:nvSpPr>
        <p:spPr>
          <a:xfrm>
            <a:off x="7905750" y="4943475"/>
            <a:ext cx="3638700"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75">
                <a:solidFill>
                  <a:srgbClr val="087F8C"/>
                </a:solidFill>
              </a:rPr>
              <a:t>All 3 tours sampled</a:t>
            </a:r>
            <a:endParaRPr b="1" sz="2175">
              <a:solidFill>
                <a:srgbClr val="087F8C"/>
              </a:solidFill>
            </a:endParaRPr>
          </a:p>
        </p:txBody>
      </p:sp>
      <p:sp>
        <p:nvSpPr>
          <p:cNvPr id="129" name="Google Shape;129;p15"/>
          <p:cNvSpPr/>
          <p:nvPr/>
        </p:nvSpPr>
        <p:spPr>
          <a:xfrm>
            <a:off x="7905750" y="5514975"/>
            <a:ext cx="3638700" cy="705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875">
                <a:solidFill>
                  <a:srgbClr val="506176"/>
                </a:solidFill>
              </a:rPr>
              <a:t>10, 6 and 6 atoms</a:t>
            </a:r>
            <a:endParaRPr sz="1875">
              <a:solidFill>
                <a:srgbClr val="506176"/>
              </a:solidFill>
            </a:endParaRPr>
          </a:p>
          <a:p>
            <a:pPr indent="0" lvl="0" marL="0" marR="0" rtl="0" algn="l">
              <a:lnSpc>
                <a:spcPct val="112000"/>
              </a:lnSpc>
              <a:spcBef>
                <a:spcPts val="0"/>
              </a:spcBef>
              <a:spcAft>
                <a:spcPts val="0"/>
              </a:spcAft>
              <a:buNone/>
            </a:pPr>
            <a:r>
              <a:rPr lang="en-US" sz="1875">
                <a:solidFill>
                  <a:srgbClr val="506176"/>
                </a:solidFill>
              </a:rPr>
              <a:t>16,000 shots per ship</a:t>
            </a:r>
            <a:endParaRPr sz="1875">
              <a:solidFill>
                <a:srgbClr val="506176"/>
              </a:solidFill>
            </a:endParaRPr>
          </a:p>
        </p:txBody>
      </p:sp>
      <p:sp>
        <p:nvSpPr>
          <p:cNvPr id="130" name="Google Shape;130;p15"/>
          <p:cNvSpPr/>
          <p:nvPr/>
        </p:nvSpPr>
        <p:spPr>
          <a:xfrm>
            <a:off x="609600" y="6477000"/>
            <a:ext cx="10477500" cy="2667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350">
                <a:solidFill>
                  <a:srgbClr val="506176"/>
                </a:solidFill>
              </a:rPr>
              <a:t>Fixed 3D demo. Larger budget: 512 clustering attempts, 4 window orders. CPU emulation; no speedup claim.</a:t>
            </a:r>
            <a:endParaRPr sz="1350">
              <a:solidFill>
                <a:srgbClr val="506176"/>
              </a:solidFill>
            </a:endParaRPr>
          </a:p>
        </p:txBody>
      </p:sp>
      <p:pic>
        <p:nvPicPr>
          <p:cNvPr descr="Latest repository 3cc9c57. Ten planets, three ships, total 428.127519 fictional space units, matching the exact optimum." id="131" name="Google Shape;131;p15" title="Atlas Orbit final measured routes"/>
          <p:cNvPicPr preferRelativeResize="0"/>
          <p:nvPr/>
        </p:nvPicPr>
        <p:blipFill>
          <a:blip r:embed="rId3">
            <a:alphaModFix/>
          </a:blip>
          <a:stretch>
            <a:fillRect/>
          </a:stretch>
        </p:blipFill>
        <p:spPr>
          <a:xfrm>
            <a:off x="609600" y="1362075"/>
            <a:ext cx="6762749" cy="50318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16"/>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Where solution quality is lost</a:t>
            </a:r>
            <a:endParaRPr/>
          </a:p>
        </p:txBody>
      </p:sp>
      <p:sp>
        <p:nvSpPr>
          <p:cNvPr id="138" name="Google Shape;138;p16"/>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09</a:t>
            </a:r>
            <a:endParaRPr/>
          </a:p>
        </p:txBody>
      </p:sp>
      <p:sp>
        <p:nvSpPr>
          <p:cNvPr id="139" name="Google Shape;139;p16"/>
          <p:cNvSpPr/>
          <p:nvPr/>
        </p:nvSpPr>
        <p:spPr>
          <a:xfrm>
            <a:off x="609600" y="1495425"/>
            <a:ext cx="41910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5100">
                <a:solidFill>
                  <a:srgbClr val="BD692E"/>
                </a:solidFill>
                <a:latin typeface="Arial"/>
                <a:ea typeface="Arial"/>
                <a:cs typeface="Arial"/>
                <a:sym typeface="Arial"/>
              </a:rPr>
              <a:t>0 / 797</a:t>
            </a:r>
            <a:endParaRPr/>
          </a:p>
        </p:txBody>
      </p:sp>
      <p:sp>
        <p:nvSpPr>
          <p:cNvPr id="140" name="Google Shape;140;p16"/>
          <p:cNvSpPr/>
          <p:nvPr/>
        </p:nvSpPr>
        <p:spPr>
          <a:xfrm>
            <a:off x="609600" y="2505075"/>
            <a:ext cx="4429125" cy="1190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5263B"/>
                </a:solidFill>
                <a:latin typeface="Arial"/>
                <a:ea typeface="Arial"/>
                <a:cs typeface="Arial"/>
                <a:sym typeface="Arial"/>
              </a:rPr>
              <a:t>fitted native models retain a target ground-state bitstring</a:t>
            </a:r>
            <a:endParaRPr/>
          </a:p>
        </p:txBody>
      </p:sp>
      <p:sp>
        <p:nvSpPr>
          <p:cNvPr id="141" name="Google Shape;141;p16"/>
          <p:cNvSpPr/>
          <p:nvPr/>
        </p:nvSpPr>
        <p:spPr>
          <a:xfrm>
            <a:off x="609600" y="4324350"/>
            <a:ext cx="4524375"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506176"/>
                </a:solidFill>
                <a:latin typeface="Arial"/>
                <a:ea typeface="Arial"/>
                <a:cs typeface="Arial"/>
                <a:sym typeface="Arial"/>
              </a:rPr>
              <a:t>Finite-time pulses can still sample useful excited states.</a:t>
            </a:r>
            <a:endParaRPr/>
          </a:p>
        </p:txBody>
      </p:sp>
      <p:sp>
        <p:nvSpPr>
          <p:cNvPr id="142" name="Google Shape;142;p16"/>
          <p:cNvSpPr/>
          <p:nvPr/>
        </p:nvSpPr>
        <p:spPr>
          <a:xfrm>
            <a:off x="6076950" y="1581150"/>
            <a:ext cx="5238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87F8C"/>
                </a:solidFill>
                <a:latin typeface="Arial"/>
                <a:ea typeface="Arial"/>
                <a:cs typeface="Arial"/>
                <a:sym typeface="Arial"/>
              </a:rPr>
              <a:t>Clustering surrogate</a:t>
            </a:r>
            <a:endParaRPr/>
          </a:p>
        </p:txBody>
      </p:sp>
      <p:sp>
        <p:nvSpPr>
          <p:cNvPr id="143" name="Google Shape;143;p16"/>
          <p:cNvSpPr/>
          <p:nvPr/>
        </p:nvSpPr>
        <p:spPr>
          <a:xfrm>
            <a:off x="6076950" y="2114550"/>
            <a:ext cx="52387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5263B"/>
                </a:solidFill>
                <a:latin typeface="Arial"/>
                <a:ea typeface="Arial"/>
                <a:cs typeface="Arial"/>
                <a:sym typeface="Arial"/>
              </a:rPr>
              <a:t>Compact groups can still produce long depot tours.</a:t>
            </a:r>
            <a:endParaRPr/>
          </a:p>
        </p:txBody>
      </p:sp>
      <p:sp>
        <p:nvSpPr>
          <p:cNvPr id="144" name="Google Shape;144;p16"/>
          <p:cNvSpPr/>
          <p:nvPr/>
        </p:nvSpPr>
        <p:spPr>
          <a:xfrm>
            <a:off x="6076950" y="3267075"/>
            <a:ext cx="5238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87F8C"/>
                </a:solidFill>
                <a:latin typeface="Arial"/>
                <a:ea typeface="Arial"/>
                <a:cs typeface="Arial"/>
                <a:sym typeface="Arial"/>
              </a:rPr>
              <a:t>Sequential capacity checks</a:t>
            </a:r>
            <a:endParaRPr/>
          </a:p>
        </p:txBody>
      </p:sp>
      <p:sp>
        <p:nvSpPr>
          <p:cNvPr id="145" name="Google Shape;145;p16"/>
          <p:cNvSpPr/>
          <p:nvPr/>
        </p:nvSpPr>
        <p:spPr>
          <a:xfrm>
            <a:off x="6076950" y="3800475"/>
            <a:ext cx="5238750" cy="733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5263B"/>
                </a:solidFill>
                <a:latin typeface="Arial"/>
                <a:ea typeface="Arial"/>
                <a:cs typeface="Arial"/>
                <a:sym typeface="Arial"/>
              </a:rPr>
              <a:t>A feasible early group can leave an infeasible remainder.</a:t>
            </a:r>
            <a:endParaRPr/>
          </a:p>
        </p:txBody>
      </p:sp>
      <p:sp>
        <p:nvSpPr>
          <p:cNvPr id="146" name="Google Shape;146;p16"/>
          <p:cNvSpPr/>
          <p:nvPr/>
        </p:nvSpPr>
        <p:spPr>
          <a:xfrm>
            <a:off x="6076950" y="4962525"/>
            <a:ext cx="5238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87F8C"/>
                </a:solidFill>
                <a:latin typeface="Arial"/>
                <a:ea typeface="Arial"/>
                <a:cs typeface="Arial"/>
                <a:sym typeface="Arial"/>
              </a:rPr>
              <a:t>Physical embedding</a:t>
            </a:r>
            <a:endParaRPr/>
          </a:p>
        </p:txBody>
      </p:sp>
      <p:sp>
        <p:nvSpPr>
          <p:cNvPr id="147" name="Google Shape;147;p16"/>
          <p:cNvSpPr/>
          <p:nvPr/>
        </p:nvSpPr>
        <p:spPr>
          <a:xfrm>
            <a:off x="6076950" y="5505450"/>
            <a:ext cx="523875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5263B"/>
                </a:solidFill>
                <a:latin typeface="Arial"/>
                <a:ea typeface="Arial"/>
                <a:cs typeface="Arial"/>
                <a:sym typeface="Arial"/>
              </a:rPr>
              <a:t>Geometry distorts pair costs, even with local detuning.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524"/>
        </a:solidFill>
      </p:bgPr>
    </p:bg>
    <p:spTree>
      <p:nvGrpSpPr>
        <p:cNvPr id="152" name="Shape 152"/>
        <p:cNvGrpSpPr/>
        <p:nvPr/>
      </p:nvGrpSpPr>
      <p:grpSpPr>
        <a:xfrm>
          <a:off x="0" y="0"/>
          <a:ext cx="0" cy="0"/>
          <a:chOff x="0" y="0"/>
          <a:chExt cx="0" cy="0"/>
        </a:xfrm>
      </p:grpSpPr>
      <p:sp>
        <p:nvSpPr>
          <p:cNvPr id="153" name="Google Shape;153;p17"/>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FFFFFF"/>
                </a:solidFill>
              </a:rPr>
              <a:t>What we built and what comes next</a:t>
            </a:r>
            <a:endParaRPr b="1" sz="3150">
              <a:solidFill>
                <a:srgbClr val="FFFFFF"/>
              </a:solidFill>
            </a:endParaRPr>
          </a:p>
        </p:txBody>
      </p:sp>
      <p:sp>
        <p:nvSpPr>
          <p:cNvPr id="154" name="Google Shape;154;p17"/>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99E3DB"/>
                </a:solidFill>
                <a:latin typeface="Arial"/>
                <a:ea typeface="Arial"/>
                <a:cs typeface="Arial"/>
                <a:sym typeface="Arial"/>
              </a:rPr>
              <a:t>10</a:t>
            </a:r>
            <a:endParaRPr/>
          </a:p>
        </p:txBody>
      </p:sp>
      <p:sp>
        <p:nvSpPr>
          <p:cNvPr id="155" name="Google Shape;155;p17"/>
          <p:cNvSpPr/>
          <p:nvPr/>
        </p:nvSpPr>
        <p:spPr>
          <a:xfrm>
            <a:off x="609600" y="1581150"/>
            <a:ext cx="105727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925">
                <a:solidFill>
                  <a:srgbClr val="FFFFFF"/>
                </a:solidFill>
                <a:latin typeface="Arial"/>
                <a:ea typeface="Arial"/>
                <a:cs typeface="Arial"/>
                <a:sym typeface="Arial"/>
              </a:rPr>
              <a:t>A reproducible hybrid routing experiment</a:t>
            </a:r>
            <a:endParaRPr/>
          </a:p>
        </p:txBody>
      </p:sp>
      <p:sp>
        <p:nvSpPr>
          <p:cNvPr id="156" name="Google Shape;156;p17"/>
          <p:cNvSpPr/>
          <p:nvPr/>
        </p:nvSpPr>
        <p:spPr>
          <a:xfrm>
            <a:off x="609600" y="2390775"/>
            <a:ext cx="10572750" cy="8667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C4D3E4"/>
                </a:solidFill>
                <a:latin typeface="Arial"/>
                <a:ea typeface="Arial"/>
                <a:cs typeface="Arial"/>
                <a:sym typeface="Arial"/>
              </a:rPr>
              <a:t>QUBO derivations, measured bitstrings, strict route validation,</a:t>
            </a:r>
            <a:endParaRPr/>
          </a:p>
          <a:p>
            <a:pPr indent="0" lvl="0" marL="0" marR="0" rtl="0" algn="l">
              <a:spcBef>
                <a:spcPts val="0"/>
              </a:spcBef>
              <a:spcAft>
                <a:spcPts val="0"/>
              </a:spcAft>
              <a:buNone/>
            </a:pPr>
            <a:r>
              <a:rPr b="0" lang="en-US" sz="2250">
                <a:solidFill>
                  <a:srgbClr val="C4D3E4"/>
                </a:solidFill>
                <a:latin typeface="Arial"/>
                <a:ea typeface="Arial"/>
                <a:cs typeface="Arial"/>
                <a:sym typeface="Arial"/>
              </a:rPr>
              <a:t>and independent classical comparisons</a:t>
            </a:r>
            <a:endParaRPr/>
          </a:p>
        </p:txBody>
      </p:sp>
      <p:sp>
        <p:nvSpPr>
          <p:cNvPr id="157" name="Google Shape;157;p17"/>
          <p:cNvSpPr/>
          <p:nvPr/>
        </p:nvSpPr>
        <p:spPr>
          <a:xfrm>
            <a:off x="609600" y="3857625"/>
            <a:ext cx="10477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50">
                <a:solidFill>
                  <a:srgbClr val="99E3DB"/>
                </a:solidFill>
                <a:latin typeface="Arial"/>
                <a:ea typeface="Arial"/>
                <a:cs typeface="Arial"/>
                <a:sym typeface="Arial"/>
              </a:rPr>
              <a:t>Next: improve the model and embedding,</a:t>
            </a:r>
            <a:endParaRPr/>
          </a:p>
          <a:p>
            <a:pPr indent="0" lvl="0" marL="0" marR="0" rtl="0" algn="l">
              <a:spcBef>
                <a:spcPts val="0"/>
              </a:spcBef>
              <a:spcAft>
                <a:spcPts val="0"/>
              </a:spcAft>
              <a:buNone/>
            </a:pPr>
            <a:r>
              <a:rPr b="1" lang="en-US" sz="3150">
                <a:solidFill>
                  <a:srgbClr val="99E3DB"/>
                </a:solidFill>
                <a:latin typeface="Arial"/>
                <a:ea typeface="Arial"/>
                <a:cs typeface="Arial"/>
                <a:sym typeface="Arial"/>
              </a:rPr>
              <a:t>then retest across more seeds</a:t>
            </a:r>
            <a:endParaRPr/>
          </a:p>
        </p:txBody>
      </p:sp>
      <p:sp>
        <p:nvSpPr>
          <p:cNvPr id="158" name="Google Shape;158;p17"/>
          <p:cNvSpPr/>
          <p:nvPr/>
        </p:nvSpPr>
        <p:spPr>
          <a:xfrm>
            <a:off x="609600" y="5410200"/>
            <a:ext cx="10477500" cy="476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2025">
                <a:solidFill>
                  <a:srgbClr val="FFFFFF"/>
                </a:solidFill>
              </a:rPr>
              <a:t>The updated Atlas Orbit demo reaches its exact optimum.</a:t>
            </a:r>
            <a:endParaRPr sz="2025">
              <a:solidFill>
                <a:srgbClr val="FFFFFF"/>
              </a:solidFill>
            </a:endParaRPr>
          </a:p>
        </p:txBody>
      </p:sp>
      <p:sp>
        <p:nvSpPr>
          <p:cNvPr id="159" name="Google Shape;159;p17"/>
          <p:cNvSpPr/>
          <p:nvPr/>
        </p:nvSpPr>
        <p:spPr>
          <a:xfrm>
            <a:off x="609600" y="6048375"/>
            <a:ext cx="10382250" cy="42862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650">
                <a:solidFill>
                  <a:srgbClr val="9EB0C6"/>
                </a:solidFill>
              </a:rPr>
              <a:t>One larger-budget demo succeeds. CPLEX remains stronger on the 12-instance benchmark.</a:t>
            </a:r>
            <a:endParaRPr sz="1650">
              <a:solidFill>
                <a:srgbClr val="9EB0C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64" name="Shape 164"/>
        <p:cNvGrpSpPr/>
        <p:nvPr/>
      </p:nvGrpSpPr>
      <p:grpSpPr>
        <a:xfrm>
          <a:off x="0" y="0"/>
          <a:ext cx="0" cy="0"/>
          <a:chOff x="0" y="0"/>
          <a:chExt cx="0" cy="0"/>
        </a:xfrm>
      </p:grpSpPr>
      <p:sp>
        <p:nvSpPr>
          <p:cNvPr id="165" name="Google Shape;165;p18"/>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Exact assignment model and variable budget</a:t>
            </a:r>
            <a:endParaRPr b="1" sz="3150">
              <a:solidFill>
                <a:srgbClr val="15263B"/>
              </a:solidFill>
            </a:endParaRPr>
          </a:p>
        </p:txBody>
      </p:sp>
      <p:sp>
        <p:nvSpPr>
          <p:cNvPr id="166" name="Google Shape;166;p18"/>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1</a:t>
            </a:r>
            <a:endParaRPr/>
          </a:p>
        </p:txBody>
      </p:sp>
      <p:graphicFrame>
        <p:nvGraphicFramePr>
          <p:cNvPr id="167" name="Google Shape;167;p18"/>
          <p:cNvGraphicFramePr/>
          <p:nvPr/>
        </p:nvGraphicFramePr>
        <p:xfrm>
          <a:off x="609600" y="3476625"/>
          <a:ext cx="3000000" cy="3000000"/>
        </p:xfrm>
        <a:graphic>
          <a:graphicData uri="http://schemas.openxmlformats.org/drawingml/2006/table">
            <a:tbl>
              <a:tblPr>
                <a:noFill/>
                <a:tableStyleId>{2A7FEDC0-A9D9-4AC4-95FF-5C3F1438AFD2}</a:tableStyleId>
              </a:tblPr>
              <a:tblGrid>
                <a:gridCol w="6000750"/>
                <a:gridCol w="1619250"/>
                <a:gridCol w="1619250"/>
                <a:gridCol w="1619250"/>
              </a:tblGrid>
              <a:tr h="571500">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Encoding</a:t>
                      </a:r>
                      <a:endParaRPr/>
                    </a:p>
                  </a:txBody>
                  <a:tcPr marT="45725" marB="45725" marR="91450" marL="91450" anchor="ctr">
                    <a:lnL cap="flat" cmpd="sng" w="9525">
                      <a:solidFill>
                        <a:srgbClr val="D5E0E6"/>
                      </a:solidFill>
                      <a:prstDash val="solid"/>
                      <a:round/>
                      <a:headEnd len="sm" w="sm" type="none"/>
                      <a:tailEnd len="sm" w="sm" type="none"/>
                    </a:lnL>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S</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M</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L</a:t>
                      </a:r>
                      <a:endParaRPr/>
                    </a:p>
                  </a:txBody>
                  <a:tcPr marT="45725" marB="45725" marR="91450" marL="91450" anchor="ctr">
                    <a:lnR cap="flat" cmpd="sng" w="9525">
                      <a:solidFill>
                        <a:srgbClr val="D5E0E6"/>
                      </a:solidFill>
                      <a:prstDash val="solid"/>
                      <a:round/>
                      <a:headEnd len="sm" w="sm" type="none"/>
                      <a:tailEnd len="sm" w="sm" type="none"/>
                    </a:lnR>
                    <a:lnT cap="flat" cmpd="sng" w="9525">
                      <a:solidFill>
                        <a:srgbClr val="D5E0E6"/>
                      </a:solidFill>
                      <a:prstDash val="solid"/>
                      <a:round/>
                      <a:headEnd len="sm" w="sm" type="none"/>
                      <a:tailEnd len="sm" w="sm" type="none"/>
                    </a:lnT>
                    <a:solidFill>
                      <a:srgbClr val="0C1524"/>
                    </a:solidFill>
                  </a:tcPr>
                </a:tc>
              </a:tr>
              <a:tr h="571500">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Assignment x</a:t>
                      </a:r>
                      <a:endParaRPr/>
                    </a:p>
                  </a:txBody>
                  <a:tcPr marT="45725" marB="45725" marR="91450" marL="91450" anchor="ctr">
                    <a:lnL cap="flat" cmpd="sng" w="9525">
                      <a:solidFill>
                        <a:srgbClr val="D5E0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8</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30</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60</a:t>
                      </a:r>
                      <a:endParaRPr/>
                    </a:p>
                  </a:txBody>
                  <a:tcPr marT="45725" marB="45725" marR="91450" marL="91450" anchor="ctr">
                    <a:lnR cap="flat" cmpd="sng" w="9525">
                      <a:solidFill>
                        <a:srgbClr val="D5E0E6"/>
                      </a:solidFill>
                      <a:prstDash val="solid"/>
                      <a:round/>
                      <a:headEnd len="sm" w="sm" type="none"/>
                      <a:tailEnd len="sm" w="sm" type="none"/>
                    </a:lnR>
                    <a:solidFill>
                      <a:srgbClr val="FFFFFF"/>
                    </a:solidFill>
                  </a:tcPr>
                </a:tc>
              </a:tr>
              <a:tr h="571500">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Assignment + slack</a:t>
                      </a:r>
                      <a:endParaRPr/>
                    </a:p>
                  </a:txBody>
                  <a:tcPr marT="45725" marB="45725" marR="91450" marL="91450" anchor="ctr">
                    <a:lnL cap="flat" cmpd="sng" w="9525">
                      <a:solidFill>
                        <a:srgbClr val="D5E0E6"/>
                      </a:solidFill>
                      <a:prstDash val="solid"/>
                      <a:round/>
                      <a:headEnd len="sm" w="sm" type="none"/>
                      <a:tailEnd len="sm" w="sm" type="none"/>
                    </a:lnL>
                    <a:solidFill>
                      <a:srgbClr val="F2F6F8"/>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14</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45</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80</a:t>
                      </a:r>
                      <a:endParaRPr/>
                    </a:p>
                  </a:txBody>
                  <a:tcPr marT="45725" marB="45725" marR="91450" marL="91450" anchor="ctr">
                    <a:lnR cap="flat" cmpd="sng" w="9525">
                      <a:solidFill>
                        <a:srgbClr val="D5E0E6"/>
                      </a:solidFill>
                      <a:prstDash val="solid"/>
                      <a:round/>
                      <a:headEnd len="sm" w="sm" type="none"/>
                      <a:tailEnd len="sm" w="sm" type="none"/>
                    </a:lnR>
                    <a:solidFill>
                      <a:srgbClr val="F2F6F8"/>
                    </a:solidFill>
                  </a:tcPr>
                </a:tc>
              </a:tr>
              <a:tr h="571500">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Implemented window peak</a:t>
                      </a:r>
                      <a:endParaRPr/>
                    </a:p>
                  </a:txBody>
                  <a:tcPr marT="45725" marB="45725" marR="91450" marL="91450" anchor="ctr">
                    <a:lnL cap="flat" cmpd="sng" w="9525">
                      <a:solidFill>
                        <a:srgbClr val="D5E0E6"/>
                      </a:solidFill>
                      <a:prstDash val="solid"/>
                      <a:round/>
                      <a:headEnd len="sm" w="sm" type="none"/>
                      <a:tailEnd len="sm" w="sm" type="none"/>
                    </a:lnL>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4</a:t>
                      </a:r>
                      <a:endParaRPr/>
                    </a:p>
                  </a:txBody>
                  <a:tcPr marT="45725" marB="45725" marR="91450" marL="91450" anchor="ctr">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8</a:t>
                      </a:r>
                      <a:endParaRPr/>
                    </a:p>
                  </a:txBody>
                  <a:tcPr marT="45725" marB="45725" marR="91450" marL="91450" anchor="ctr">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2025"/>
                        <a:buFont typeface="Arial"/>
                        <a:buNone/>
                      </a:pPr>
                      <a:r>
                        <a:rPr b="0" lang="en-US" sz="2025">
                          <a:solidFill>
                            <a:srgbClr val="15263B"/>
                          </a:solidFill>
                          <a:latin typeface="Arial"/>
                          <a:ea typeface="Arial"/>
                          <a:cs typeface="Arial"/>
                          <a:sym typeface="Arial"/>
                        </a:rPr>
                        <a:t>8</a:t>
                      </a:r>
                      <a:endParaRPr/>
                    </a:p>
                  </a:txBody>
                  <a:tcPr marT="45725" marB="45725" marR="91450" marL="91450" anchor="ctr">
                    <a:lnR cap="flat" cmpd="sng" w="9525">
                      <a:solidFill>
                        <a:srgbClr val="D5E0E6"/>
                      </a:solidFill>
                      <a:prstDash val="solid"/>
                      <a:round/>
                      <a:headEnd len="sm" w="sm" type="none"/>
                      <a:tailEnd len="sm" w="sm" type="none"/>
                    </a:lnR>
                    <a:lnB cap="flat" cmpd="sng" w="9525">
                      <a:solidFill>
                        <a:srgbClr val="D5E0E6"/>
                      </a:solidFill>
                      <a:prstDash val="solid"/>
                      <a:round/>
                      <a:headEnd len="sm" w="sm" type="none"/>
                      <a:tailEnd len="sm" w="sm" type="none"/>
                    </a:lnB>
                    <a:solidFill>
                      <a:srgbClr val="FFFFFF"/>
                    </a:solidFill>
                  </a:tcPr>
                </a:tc>
              </a:tr>
            </a:tbl>
          </a:graphicData>
        </a:graphic>
      </p:graphicFrame>
      <p:sp>
        <p:nvSpPr>
          <p:cNvPr id="168" name="Google Shape;168;p18"/>
          <p:cNvSpPr/>
          <p:nvPr/>
        </p:nvSpPr>
        <p:spPr>
          <a:xfrm>
            <a:off x="609600" y="5943600"/>
            <a:ext cx="10668000" cy="5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725">
                <a:solidFill>
                  <a:srgbClr val="506176"/>
                </a:solidFill>
              </a:rPr>
              <a:t>A = B = U + 1 makes exact global minima feasible, given a feasible score U and nonnegative F.</a:t>
            </a:r>
            <a:endParaRPr sz="1725">
              <a:solidFill>
                <a:srgbClr val="506176"/>
              </a:solidFill>
            </a:endParaRPr>
          </a:p>
        </p:txBody>
      </p:sp>
      <p:pic>
        <p:nvPicPr>
          <p:cNvPr descr="\begin{aligned}E_{\mathrm{slack}}={}&amp;F(x)+A\sum_i\left(\sum_k x_{ik}-1\right)^2\\&amp;+B\sum_k\left(\sum_i d_i x_{ik}+s_k-Q\right)^2\end{aligned}" id="169" name="Google Shape;169;p18" title="Typeset mathematical equation"/>
          <p:cNvPicPr preferRelativeResize="0"/>
          <p:nvPr/>
        </p:nvPicPr>
        <p:blipFill>
          <a:blip r:embed="rId3">
            <a:alphaModFix/>
          </a:blip>
          <a:stretch>
            <a:fillRect/>
          </a:stretch>
        </p:blipFill>
        <p:spPr>
          <a:xfrm>
            <a:off x="609600" y="1546742"/>
            <a:ext cx="4725789" cy="1145141"/>
          </a:xfrm>
          <a:prstGeom prst="rect">
            <a:avLst/>
          </a:prstGeom>
          <a:noFill/>
          <a:ln>
            <a:noFill/>
          </a:ln>
        </p:spPr>
      </p:pic>
      <p:pic>
        <p:nvPicPr>
          <p:cNvPr descr="s_k=\sum_{\ell=0}^{B_Q-1}2^\ell u_{k\ell},\qquad B_Q=\left\lceil\log_2(Q+1)\right\rceil" id="170" name="Google Shape;170;p18" title="Typeset mathematical equation"/>
          <p:cNvPicPr preferRelativeResize="0"/>
          <p:nvPr/>
        </p:nvPicPr>
        <p:blipFill>
          <a:blip r:embed="rId4">
            <a:alphaModFix/>
          </a:blip>
          <a:stretch>
            <a:fillRect/>
          </a:stretch>
        </p:blipFill>
        <p:spPr>
          <a:xfrm>
            <a:off x="610284" y="2781352"/>
            <a:ext cx="4913734" cy="4380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75" name="Shape 175"/>
        <p:cNvGrpSpPr/>
        <p:nvPr/>
      </p:nvGrpSpPr>
      <p:grpSpPr>
        <a:xfrm>
          <a:off x="0" y="0"/>
          <a:ext cx="0" cy="0"/>
          <a:chOff x="0" y="0"/>
          <a:chExt cx="0" cy="0"/>
        </a:xfrm>
      </p:grpSpPr>
      <p:sp>
        <p:nvSpPr>
          <p:cNvPr id="176" name="Google Shape;176;p19"/>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Two routing encodings for four customers</a:t>
            </a:r>
            <a:endParaRPr b="1" sz="3150">
              <a:solidFill>
                <a:srgbClr val="15263B"/>
              </a:solidFill>
            </a:endParaRPr>
          </a:p>
        </p:txBody>
      </p:sp>
      <p:sp>
        <p:nvSpPr>
          <p:cNvPr id="177" name="Google Shape;177;p19"/>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2</a:t>
            </a:r>
            <a:endParaRPr/>
          </a:p>
        </p:txBody>
      </p:sp>
      <p:sp>
        <p:nvSpPr>
          <p:cNvPr id="178" name="Google Shape;178;p19"/>
          <p:cNvSpPr/>
          <p:nvPr/>
        </p:nvSpPr>
        <p:spPr>
          <a:xfrm>
            <a:off x="609600" y="1495425"/>
            <a:ext cx="105727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87F8C"/>
                </a:solidFill>
                <a:latin typeface="Arial"/>
                <a:ea typeface="Arial"/>
                <a:cs typeface="Arial"/>
                <a:sym typeface="Arial"/>
              </a:rPr>
              <a:t>Edge encoding: 10 binary variables</a:t>
            </a:r>
            <a:endParaRPr/>
          </a:p>
        </p:txBody>
      </p:sp>
      <p:sp>
        <p:nvSpPr>
          <p:cNvPr id="179" name="Google Shape;179;p19"/>
          <p:cNvSpPr/>
          <p:nvPr/>
        </p:nvSpPr>
        <p:spPr>
          <a:xfrm>
            <a:off x="609600" y="3562350"/>
            <a:ext cx="105729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87F8C"/>
                </a:solidFill>
                <a:latin typeface="Arial"/>
                <a:ea typeface="Arial"/>
                <a:cs typeface="Arial"/>
                <a:sym typeface="Arial"/>
              </a:rPr>
              <a:t>Position encoding: 16 binary variables</a:t>
            </a:r>
            <a:endParaRPr/>
          </a:p>
        </p:txBody>
      </p:sp>
      <p:sp>
        <p:nvSpPr>
          <p:cNvPr id="180" name="Google Shape;180;p19"/>
          <p:cNvSpPr/>
          <p:nvPr/>
        </p:nvSpPr>
        <p:spPr>
          <a:xfrm>
            <a:off x="609600" y="6048375"/>
            <a:ext cx="10668000" cy="466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650">
                <a:solidFill>
                  <a:srgbClr val="506176"/>
                </a:solidFill>
              </a:rPr>
              <a:t>Degree two implies one tour only for ≤4 customers here. Position bits encode a permutation. A = 10.</a:t>
            </a:r>
            <a:endParaRPr sz="1650">
              <a:solidFill>
                <a:srgbClr val="506176"/>
              </a:solidFill>
            </a:endParaRPr>
          </a:p>
        </p:txBody>
      </p:sp>
      <p:pic>
        <p:nvPicPr>
          <p:cNvPr descr="E_{\mathrm{edge}}=\sum_{i&lt;j}\widetilde c_{ij}e_{ij}+A\sum_v\left(\sum_{e\ni v}e_e-2\right)^2" id="181" name="Google Shape;181;p19" title="Typeset mathematical equation"/>
          <p:cNvPicPr preferRelativeResize="0"/>
          <p:nvPr/>
        </p:nvPicPr>
        <p:blipFill>
          <a:blip r:embed="rId3">
            <a:alphaModFix/>
          </a:blip>
          <a:stretch>
            <a:fillRect/>
          </a:stretch>
        </p:blipFill>
        <p:spPr>
          <a:xfrm>
            <a:off x="614449" y="2005455"/>
            <a:ext cx="5803911" cy="589664"/>
          </a:xfrm>
          <a:prstGeom prst="rect">
            <a:avLst/>
          </a:prstGeom>
          <a:noFill/>
          <a:ln>
            <a:noFill/>
          </a:ln>
        </p:spPr>
      </p:pic>
      <p:pic>
        <p:nvPicPr>
          <p:cNvPr descr="h_e=\widetilde c_e-6A,\qquad J_{ef}=2A\quad\text{for incident edges}" id="182" name="Google Shape;182;p19" title="Typeset mathematical equation"/>
          <p:cNvPicPr preferRelativeResize="0"/>
          <p:nvPr/>
        </p:nvPicPr>
        <p:blipFill>
          <a:blip r:embed="rId4">
            <a:alphaModFix/>
          </a:blip>
          <a:stretch>
            <a:fillRect/>
          </a:stretch>
        </p:blipFill>
        <p:spPr>
          <a:xfrm>
            <a:off x="617569" y="2875740"/>
            <a:ext cx="5076168" cy="258794"/>
          </a:xfrm>
          <a:prstGeom prst="rect">
            <a:avLst/>
          </a:prstGeom>
          <a:noFill/>
          <a:ln>
            <a:noFill/>
          </a:ln>
        </p:spPr>
      </p:pic>
      <p:pic>
        <p:nvPicPr>
          <p:cNvPr descr="\begin{aligned}E_{\mathrm{pos}}={}&amp;C_{\mathrm{tour}}(x)+A\sum_i\left(\sum_t x_{it}-1\right)^2\\&amp;+A\sum_t\left(\sum_i x_{it}-1\right)^2\end{aligned}" id="183" name="Google Shape;183;p19" title="Typeset mathematical equation"/>
          <p:cNvPicPr preferRelativeResize="0"/>
          <p:nvPr/>
        </p:nvPicPr>
        <p:blipFill>
          <a:blip r:embed="rId5">
            <a:alphaModFix/>
          </a:blip>
          <a:stretch>
            <a:fillRect/>
          </a:stretch>
        </p:blipFill>
        <p:spPr>
          <a:xfrm>
            <a:off x="609600" y="4193523"/>
            <a:ext cx="4739939" cy="11855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88" name="Shape 188"/>
        <p:cNvGrpSpPr/>
        <p:nvPr/>
      </p:nvGrpSpPr>
      <p:grpSpPr>
        <a:xfrm>
          <a:off x="0" y="0"/>
          <a:ext cx="0" cy="0"/>
          <a:chOff x="0" y="0"/>
          <a:chExt cx="0" cy="0"/>
        </a:xfrm>
      </p:grpSpPr>
      <p:sp>
        <p:nvSpPr>
          <p:cNvPr id="189" name="Google Shape;189;p20"/>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Classical comparison by instance</a:t>
            </a:r>
            <a:endParaRPr/>
          </a:p>
        </p:txBody>
      </p:sp>
      <p:sp>
        <p:nvSpPr>
          <p:cNvPr id="190" name="Google Shape;190;p20"/>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3</a:t>
            </a:r>
            <a:endParaRPr/>
          </a:p>
        </p:txBody>
      </p:sp>
      <p:pic>
        <p:nvPicPr>
          <p:cNvPr id="191" name="Google Shape;191;p20"/>
          <p:cNvPicPr preferRelativeResize="0"/>
          <p:nvPr/>
        </p:nvPicPr>
        <p:blipFill rotWithShape="1">
          <a:blip r:embed="rId3">
            <a:alphaModFix/>
          </a:blip>
          <a:srcRect b="0" l="0" r="0" t="0"/>
          <a:stretch/>
        </p:blipFill>
        <p:spPr>
          <a:xfrm>
            <a:off x="1330779" y="1352550"/>
            <a:ext cx="9511393" cy="4438650"/>
          </a:xfrm>
          <a:prstGeom prst="rect">
            <a:avLst/>
          </a:prstGeom>
          <a:noFill/>
          <a:ln>
            <a:noFill/>
          </a:ln>
        </p:spPr>
      </p:pic>
      <p:sp>
        <p:nvSpPr>
          <p:cNvPr id="192" name="Google Shape;192;p20"/>
          <p:cNvSpPr/>
          <p:nvPr/>
        </p:nvSpPr>
        <p:spPr>
          <a:xfrm>
            <a:off x="609600" y="5991225"/>
            <a:ext cx="106680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06176"/>
                </a:solidFill>
                <a:latin typeface="Arial"/>
                <a:ea typeface="Arial"/>
                <a:cs typeface="Arial"/>
                <a:sym typeface="Arial"/>
              </a:rPr>
              <a:t>Local baseline runs, three repeats per instance. Failed solutions retain undefined route gaps.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97" name="Shape 197"/>
        <p:cNvGrpSpPr/>
        <p:nvPr/>
      </p:nvGrpSpPr>
      <p:grpSpPr>
        <a:xfrm>
          <a:off x="0" y="0"/>
          <a:ext cx="0" cy="0"/>
          <a:chOff x="0" y="0"/>
          <a:chExt cx="0" cy="0"/>
        </a:xfrm>
      </p:grpSpPr>
      <p:sp>
        <p:nvSpPr>
          <p:cNvPr id="198" name="Google Shape;198;p21"/>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Identical-QUBO diagnostics</a:t>
            </a:r>
            <a:endParaRPr/>
          </a:p>
        </p:txBody>
      </p:sp>
      <p:sp>
        <p:nvSpPr>
          <p:cNvPr id="199" name="Google Shape;199;p21"/>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4</a:t>
            </a:r>
            <a:endParaRPr/>
          </a:p>
        </p:txBody>
      </p:sp>
      <p:graphicFrame>
        <p:nvGraphicFramePr>
          <p:cNvPr id="200" name="Google Shape;200;p21"/>
          <p:cNvGraphicFramePr/>
          <p:nvPr/>
        </p:nvGraphicFramePr>
        <p:xfrm>
          <a:off x="609600" y="1647825"/>
          <a:ext cx="3000000" cy="3000000"/>
        </p:xfrm>
        <a:graphic>
          <a:graphicData uri="http://schemas.openxmlformats.org/drawingml/2006/table">
            <a:tbl>
              <a:tblPr>
                <a:noFill/>
                <a:tableStyleId>{2A7FEDC0-A9D9-4AC4-95FF-5C3F1438AFD2}</a:tableStyleId>
              </a:tblPr>
              <a:tblGrid>
                <a:gridCol w="3524250"/>
                <a:gridCol w="1428750"/>
                <a:gridCol w="2952750"/>
                <a:gridCol w="2952750"/>
              </a:tblGrid>
              <a:tr h="571500">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Stage / encoding</a:t>
                      </a:r>
                      <a:endParaRPr/>
                    </a:p>
                  </a:txBody>
                  <a:tcPr marT="45725" marB="45725" marR="91450" marL="91450" anchor="ctr">
                    <a:lnL cap="flat" cmpd="sng" w="9525">
                      <a:solidFill>
                        <a:srgbClr val="D5E0E6"/>
                      </a:solidFill>
                      <a:prstDash val="solid"/>
                      <a:round/>
                      <a:headEnd len="sm" w="sm" type="none"/>
                      <a:tailEnd len="sm" w="sm" type="none"/>
                    </a:lnL>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Banks</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Sampled target optimum</a:t>
                      </a:r>
                      <a:endParaRPr/>
                    </a:p>
                  </a:txBody>
                  <a:tcPr marT="45725" marB="45725" marR="91450" marL="91450" anchor="ctr">
                    <a:lnT cap="flat" cmpd="sng" w="9525">
                      <a:solidFill>
                        <a:srgbClr val="D5E0E6"/>
                      </a:solidFill>
                      <a:prstDash val="solid"/>
                      <a:round/>
                      <a:headEnd len="sm" w="sm" type="none"/>
                      <a:tailEnd len="sm" w="sm" type="none"/>
                    </a:lnT>
                    <a:solidFill>
                      <a:srgbClr val="0C1524"/>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Native optimum overlap</a:t>
                      </a:r>
                      <a:endParaRPr/>
                    </a:p>
                  </a:txBody>
                  <a:tcPr marT="45725" marB="45725" marR="91450" marL="91450" anchor="ctr">
                    <a:lnR cap="flat" cmpd="sng" w="9525">
                      <a:solidFill>
                        <a:srgbClr val="D5E0E6"/>
                      </a:solidFill>
                      <a:prstDash val="solid"/>
                      <a:round/>
                      <a:headEnd len="sm" w="sm" type="none"/>
                      <a:tailEnd len="sm" w="sm" type="none"/>
                    </a:lnR>
                    <a:lnT cap="flat" cmpd="sng" w="9525">
                      <a:solidFill>
                        <a:srgbClr val="D5E0E6"/>
                      </a:solidFill>
                      <a:prstDash val="solid"/>
                      <a:round/>
                      <a:headEnd len="sm" w="sm" type="none"/>
                      <a:tailEnd len="sm" w="sm" type="none"/>
                    </a:lnT>
                    <a:solidFill>
                      <a:srgbClr val="0C1524"/>
                    </a:solidFill>
                  </a:tcPr>
                </a:tc>
              </a:tr>
              <a:tr h="571500">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Clustering / subset</a:t>
                      </a:r>
                      <a:endParaRPr/>
                    </a:p>
                  </a:txBody>
                  <a:tcPr marT="45725" marB="45725" marR="91450" marL="91450" anchor="ctr">
                    <a:lnL cap="flat" cmpd="sng" w="9525">
                      <a:solidFill>
                        <a:srgbClr val="D5E0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754</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707/754</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0/754</a:t>
                      </a:r>
                      <a:endParaRPr/>
                    </a:p>
                  </a:txBody>
                  <a:tcPr marT="45725" marB="45725" marR="91450" marL="91450" anchor="ctr">
                    <a:lnR cap="flat" cmpd="sng" w="9525">
                      <a:solidFill>
                        <a:srgbClr val="D5E0E6"/>
                      </a:solidFill>
                      <a:prstDash val="solid"/>
                      <a:round/>
                      <a:headEnd len="sm" w="sm" type="none"/>
                      <a:tailEnd len="sm" w="sm" type="none"/>
                    </a:lnR>
                    <a:solidFill>
                      <a:srgbClr val="FFFFFF"/>
                    </a:solidFill>
                  </a:tcPr>
                </a:tc>
              </a:tr>
              <a:tr h="571500">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Routing / edge</a:t>
                      </a:r>
                      <a:endParaRPr/>
                    </a:p>
                  </a:txBody>
                  <a:tcPr marT="45725" marB="45725" marR="91450" marL="91450" anchor="ctr">
                    <a:lnL cap="flat" cmpd="sng" w="9525">
                      <a:solidFill>
                        <a:srgbClr val="D5E0E6"/>
                      </a:solidFill>
                      <a:prstDash val="solid"/>
                      <a:round/>
                      <a:headEnd len="sm" w="sm" type="none"/>
                      <a:tailEnd len="sm" w="sm" type="none"/>
                    </a:lnL>
                    <a:solidFill>
                      <a:srgbClr val="F2F6F8"/>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36</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19/36</a:t>
                      </a:r>
                      <a:endParaRPr/>
                    </a:p>
                  </a:txBody>
                  <a:tcPr marT="45725" marB="45725" marR="91450" marL="91450" anchor="ctr">
                    <a:solidFill>
                      <a:srgbClr val="F2F6F8"/>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0/36</a:t>
                      </a:r>
                      <a:endParaRPr/>
                    </a:p>
                  </a:txBody>
                  <a:tcPr marT="45725" marB="45725" marR="91450" marL="91450" anchor="ctr">
                    <a:lnR cap="flat" cmpd="sng" w="9525">
                      <a:solidFill>
                        <a:srgbClr val="D5E0E6"/>
                      </a:solidFill>
                      <a:prstDash val="solid"/>
                      <a:round/>
                      <a:headEnd len="sm" w="sm" type="none"/>
                      <a:tailEnd len="sm" w="sm" type="none"/>
                    </a:lnR>
                    <a:solidFill>
                      <a:srgbClr val="F2F6F8"/>
                    </a:solidFill>
                  </a:tcPr>
                </a:tc>
              </a:tr>
              <a:tr h="571500">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Routing / position</a:t>
                      </a:r>
                      <a:endParaRPr/>
                    </a:p>
                  </a:txBody>
                  <a:tcPr marT="45725" marB="45725" marR="91450" marL="91450" anchor="ctr">
                    <a:lnL cap="flat" cmpd="sng" w="9525">
                      <a:solidFill>
                        <a:srgbClr val="D5E0E6"/>
                      </a:solidFill>
                      <a:prstDash val="solid"/>
                      <a:round/>
                      <a:headEnd len="sm" w="sm" type="none"/>
                      <a:tailEnd len="sm" w="sm" type="none"/>
                    </a:lnL>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7</a:t>
                      </a:r>
                      <a:endParaRPr/>
                    </a:p>
                  </a:txBody>
                  <a:tcPr marT="45725" marB="45725" marR="91450" marL="91450" anchor="ctr">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0/7</a:t>
                      </a:r>
                      <a:endParaRPr/>
                    </a:p>
                  </a:txBody>
                  <a:tcPr marT="45725" marB="45725" marR="91450" marL="91450" anchor="ctr">
                    <a:lnB cap="flat" cmpd="sng" w="9525">
                      <a:solidFill>
                        <a:srgbClr val="D5E0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263B"/>
                        </a:buClr>
                        <a:buSzPts val="1875"/>
                        <a:buFont typeface="Arial"/>
                        <a:buNone/>
                      </a:pPr>
                      <a:r>
                        <a:rPr b="0" lang="en-US" sz="1875">
                          <a:solidFill>
                            <a:srgbClr val="15263B"/>
                          </a:solidFill>
                          <a:latin typeface="Arial"/>
                          <a:ea typeface="Arial"/>
                          <a:cs typeface="Arial"/>
                          <a:sym typeface="Arial"/>
                        </a:rPr>
                        <a:t>0/7</a:t>
                      </a:r>
                      <a:endParaRPr/>
                    </a:p>
                  </a:txBody>
                  <a:tcPr marT="45725" marB="45725" marR="91450" marL="91450" anchor="ctr">
                    <a:lnR cap="flat" cmpd="sng" w="9525">
                      <a:solidFill>
                        <a:srgbClr val="D5E0E6"/>
                      </a:solidFill>
                      <a:prstDash val="solid"/>
                      <a:round/>
                      <a:headEnd len="sm" w="sm" type="none"/>
                      <a:tailEnd len="sm" w="sm" type="none"/>
                    </a:lnR>
                    <a:lnB cap="flat" cmpd="sng" w="9525">
                      <a:solidFill>
                        <a:srgbClr val="D5E0E6"/>
                      </a:solidFill>
                      <a:prstDash val="solid"/>
                      <a:round/>
                      <a:headEnd len="sm" w="sm" type="none"/>
                      <a:tailEnd len="sm" w="sm" type="none"/>
                    </a:lnB>
                    <a:solidFill>
                      <a:srgbClr val="FFFFFF"/>
                    </a:solidFill>
                  </a:tcPr>
                </a:tc>
              </a:tr>
            </a:tbl>
          </a:graphicData>
        </a:graphic>
      </p:graphicFrame>
      <p:sp>
        <p:nvSpPr>
          <p:cNvPr id="201" name="Google Shape;201;p21"/>
          <p:cNvSpPr/>
          <p:nvPr/>
        </p:nvSpPr>
        <p:spPr>
          <a:xfrm>
            <a:off x="609600" y="4391025"/>
            <a:ext cx="1057275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87F8C"/>
                </a:solidFill>
                <a:latin typeface="Arial"/>
                <a:ea typeface="Arial"/>
                <a:cs typeface="Arial"/>
                <a:sym typeface="Arial"/>
              </a:rPr>
              <a:t>Every target and native minimum passed CPLEX and exhaustive checks.</a:t>
            </a:r>
            <a:endParaRPr/>
          </a:p>
        </p:txBody>
      </p:sp>
      <p:sp>
        <p:nvSpPr>
          <p:cNvPr id="202" name="Google Shape;202;p21"/>
          <p:cNvSpPr/>
          <p:nvPr/>
        </p:nvSpPr>
        <p:spPr>
          <a:xfrm>
            <a:off x="609600" y="5219700"/>
            <a:ext cx="10668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5263B"/>
                </a:solidFill>
                <a:latin typeface="Arial"/>
                <a:ea typeface="Arial"/>
                <a:cs typeface="Arial"/>
                <a:sym typeface="Arial"/>
              </a:rPr>
              <a:t>Edge banks return valid sampled tours in 36/36 cases.</a:t>
            </a:r>
            <a:endParaRPr/>
          </a:p>
          <a:p>
            <a:pPr indent="0" lvl="0" marL="0" marR="0" rtl="0" algn="l">
              <a:spcBef>
                <a:spcPts val="0"/>
              </a:spcBef>
              <a:spcAft>
                <a:spcPts val="0"/>
              </a:spcAft>
              <a:buNone/>
            </a:pPr>
            <a:r>
              <a:rPr b="0" lang="en-US" sz="2175">
                <a:solidFill>
                  <a:srgbClr val="15263B"/>
                </a:solidFill>
                <a:latin typeface="Arial"/>
                <a:ea typeface="Arial"/>
                <a:cs typeface="Arial"/>
                <a:sym typeface="Arial"/>
              </a:rPr>
              <a:t>Position banks return valid sampled tours in 3/7 cases.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07" name="Shape 207"/>
        <p:cNvGrpSpPr/>
        <p:nvPr/>
      </p:nvGrpSpPr>
      <p:grpSpPr>
        <a:xfrm>
          <a:off x="0" y="0"/>
          <a:ext cx="0" cy="0"/>
          <a:chOff x="0" y="0"/>
          <a:chExt cx="0" cy="0"/>
        </a:xfrm>
      </p:grpSpPr>
      <p:sp>
        <p:nvSpPr>
          <p:cNvPr id="208" name="Google Shape;208;p22"/>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Historical Track B encoding comparison</a:t>
            </a:r>
            <a:endParaRPr/>
          </a:p>
        </p:txBody>
      </p:sp>
      <p:sp>
        <p:nvSpPr>
          <p:cNvPr id="209" name="Google Shape;209;p22"/>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5</a:t>
            </a:r>
            <a:endParaRPr/>
          </a:p>
        </p:txBody>
      </p:sp>
      <p:pic>
        <p:nvPicPr>
          <p:cNvPr id="210" name="Google Shape;210;p22"/>
          <p:cNvPicPr preferRelativeResize="0"/>
          <p:nvPr/>
        </p:nvPicPr>
        <p:blipFill rotWithShape="1">
          <a:blip r:embed="rId3">
            <a:alphaModFix/>
          </a:blip>
          <a:srcRect b="0" l="0" r="0" t="0"/>
          <a:stretch/>
        </p:blipFill>
        <p:spPr>
          <a:xfrm>
            <a:off x="609600" y="1824038"/>
            <a:ext cx="10953750" cy="3505200"/>
          </a:xfrm>
          <a:prstGeom prst="rect">
            <a:avLst/>
          </a:prstGeom>
          <a:noFill/>
          <a:ln>
            <a:noFill/>
          </a:ln>
        </p:spPr>
      </p:pic>
      <p:sp>
        <p:nvSpPr>
          <p:cNvPr id="211" name="Google Shape;211;p22"/>
          <p:cNvSpPr/>
          <p:nvPr/>
        </p:nvSpPr>
        <p:spPr>
          <a:xfrm>
            <a:off x="609600" y="5972175"/>
            <a:ext cx="106680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06176"/>
                </a:solidFill>
                <a:latin typeface="Arial"/>
                <a:ea typeface="Arial"/>
                <a:cs typeface="Arial"/>
                <a:sym typeface="Arial"/>
              </a:rPr>
              <a:t>Original GitHub benchmark evidence. Different experiment from the fresh local CPLEX runs.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16" name="Shape 216"/>
        <p:cNvGrpSpPr/>
        <p:nvPr/>
      </p:nvGrpSpPr>
      <p:grpSpPr>
        <a:xfrm>
          <a:off x="0" y="0"/>
          <a:ext cx="0" cy="0"/>
          <a:chOff x="0" y="0"/>
          <a:chExt cx="0" cy="0"/>
        </a:xfrm>
      </p:grpSpPr>
      <p:sp>
        <p:nvSpPr>
          <p:cNvPr id="217" name="Google Shape;217;p23"/>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5263B"/>
                </a:solidFill>
                <a:latin typeface="Arial"/>
                <a:ea typeface="Arial"/>
                <a:cs typeface="Arial"/>
                <a:sym typeface="Arial"/>
              </a:rPr>
              <a:t>Historical Track B route example</a:t>
            </a:r>
            <a:endParaRPr/>
          </a:p>
        </p:txBody>
      </p:sp>
      <p:sp>
        <p:nvSpPr>
          <p:cNvPr id="218" name="Google Shape;218;p23"/>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6</a:t>
            </a:r>
            <a:endParaRPr/>
          </a:p>
        </p:txBody>
      </p:sp>
      <p:pic>
        <p:nvPicPr>
          <p:cNvPr id="219" name="Google Shape;219;p23"/>
          <p:cNvPicPr preferRelativeResize="0"/>
          <p:nvPr/>
        </p:nvPicPr>
        <p:blipFill rotWithShape="1">
          <a:blip r:embed="rId3">
            <a:alphaModFix/>
          </a:blip>
          <a:srcRect b="0" l="0" r="0" t="0"/>
          <a:stretch/>
        </p:blipFill>
        <p:spPr>
          <a:xfrm>
            <a:off x="2814638" y="1381125"/>
            <a:ext cx="6543675" cy="4362450"/>
          </a:xfrm>
          <a:prstGeom prst="rect">
            <a:avLst/>
          </a:prstGeom>
          <a:noFill/>
          <a:ln>
            <a:noFill/>
          </a:ln>
        </p:spPr>
      </p:pic>
      <p:sp>
        <p:nvSpPr>
          <p:cNvPr id="220" name="Google Shape;220;p23"/>
          <p:cNvSpPr/>
          <p:nvPr/>
        </p:nvSpPr>
        <p:spPr>
          <a:xfrm>
            <a:off x="609600" y="5943600"/>
            <a:ext cx="10668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06176"/>
                </a:solidFill>
                <a:latin typeface="Arial"/>
                <a:ea typeface="Arial"/>
                <a:cs typeface="Arial"/>
                <a:sym typeface="Arial"/>
              </a:rPr>
              <a:t>Quantum routing applies to eligible four-customer groups. Trivial and size fallback groups remain classical.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25" name="Shape 225"/>
        <p:cNvGrpSpPr/>
        <p:nvPr/>
      </p:nvGrpSpPr>
      <p:grpSpPr>
        <a:xfrm>
          <a:off x="0" y="0"/>
          <a:ext cx="0" cy="0"/>
          <a:chOff x="0" y="0"/>
          <a:chExt cx="0" cy="0"/>
        </a:xfrm>
      </p:grpSpPr>
      <p:sp>
        <p:nvSpPr>
          <p:cNvPr id="226" name="Google Shape;226;p24"/>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Sampler tuning on six held-out cases</a:t>
            </a:r>
            <a:endParaRPr b="1" sz="3150">
              <a:solidFill>
                <a:srgbClr val="15263B"/>
              </a:solidFill>
            </a:endParaRPr>
          </a:p>
        </p:txBody>
      </p:sp>
      <p:sp>
        <p:nvSpPr>
          <p:cNvPr id="227" name="Google Shape;227;p24"/>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7</a:t>
            </a:r>
            <a:endParaRPr/>
          </a:p>
        </p:txBody>
      </p:sp>
      <p:sp>
        <p:nvSpPr>
          <p:cNvPr id="228" name="Google Shape;228;p24"/>
          <p:cNvSpPr/>
          <p:nvPr/>
        </p:nvSpPr>
        <p:spPr>
          <a:xfrm>
            <a:off x="7972425" y="1724025"/>
            <a:ext cx="3476700" cy="5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550">
                <a:solidFill>
                  <a:srgbClr val="087F8C"/>
                </a:solidFill>
              </a:rPr>
              <a:t>58.85% to 60.42%</a:t>
            </a:r>
            <a:endParaRPr b="1" sz="2550">
              <a:solidFill>
                <a:srgbClr val="087F8C"/>
              </a:solidFill>
            </a:endParaRPr>
          </a:p>
        </p:txBody>
      </p:sp>
      <p:sp>
        <p:nvSpPr>
          <p:cNvPr id="229" name="Google Shape;229;p24"/>
          <p:cNvSpPr/>
          <p:nvPr/>
        </p:nvSpPr>
        <p:spPr>
          <a:xfrm>
            <a:off x="7972425" y="3371850"/>
            <a:ext cx="3476700" cy="4953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550">
                <a:solidFill>
                  <a:srgbClr val="15263B"/>
                </a:solidFill>
              </a:rPr>
              <a:t>8.41% to 7.57%</a:t>
            </a:r>
            <a:endParaRPr b="1" sz="2550">
              <a:solidFill>
                <a:srgbClr val="15263B"/>
              </a:solidFill>
            </a:endParaRPr>
          </a:p>
        </p:txBody>
      </p:sp>
      <p:sp>
        <p:nvSpPr>
          <p:cNvPr id="230" name="Google Shape;230;p24"/>
          <p:cNvSpPr/>
          <p:nvPr/>
        </p:nvSpPr>
        <p:spPr>
          <a:xfrm>
            <a:off x="7972425" y="4981575"/>
            <a:ext cx="3476700" cy="447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250">
                <a:solidFill>
                  <a:srgbClr val="BD692E"/>
                </a:solidFill>
              </a:rPr>
              <a:t>18.59 s to 43.42 s</a:t>
            </a:r>
            <a:endParaRPr b="1" sz="2250">
              <a:solidFill>
                <a:srgbClr val="BD692E"/>
              </a:solidFill>
            </a:endParaRPr>
          </a:p>
        </p:txBody>
      </p:sp>
      <p:pic>
        <p:nvPicPr>
          <p:cNvPr id="231" name="Google Shape;231;p24"/>
          <p:cNvPicPr preferRelativeResize="0"/>
          <p:nvPr/>
        </p:nvPicPr>
        <p:blipFill>
          <a:blip r:embed="rId3">
            <a:alphaModFix/>
          </a:blip>
          <a:stretch>
            <a:fillRect/>
          </a:stretch>
        </p:blipFill>
        <p:spPr>
          <a:xfrm>
            <a:off x="514350" y="1543526"/>
            <a:ext cx="7029450" cy="3866198"/>
          </a:xfrm>
          <a:prstGeom prst="rect">
            <a:avLst/>
          </a:prstGeom>
          <a:noFill/>
          <a:ln>
            <a:noFill/>
          </a:ln>
        </p:spPr>
      </p:pic>
      <p:sp>
        <p:nvSpPr>
          <p:cNvPr id="232" name="Google Shape;232;p24"/>
          <p:cNvSpPr txBox="1"/>
          <p:nvPr/>
        </p:nvSpPr>
        <p:spPr>
          <a:xfrm>
            <a:off x="7972425" y="2381250"/>
            <a:ext cx="3476700" cy="723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US" sz="1875">
                <a:solidFill>
                  <a:srgbClr val="506176"/>
                </a:solidFill>
              </a:rPr>
              <a:t>Mean feasible trajectory fraction</a:t>
            </a:r>
            <a:endParaRPr sz="1875">
              <a:solidFill>
                <a:srgbClr val="506176"/>
              </a:solidFill>
            </a:endParaRPr>
          </a:p>
        </p:txBody>
      </p:sp>
      <p:sp>
        <p:nvSpPr>
          <p:cNvPr id="233" name="Google Shape;233;p24"/>
          <p:cNvSpPr txBox="1"/>
          <p:nvPr/>
        </p:nvSpPr>
        <p:spPr>
          <a:xfrm>
            <a:off x="7972425" y="4000500"/>
            <a:ext cx="3476700" cy="7239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US" sz="1875">
                <a:solidFill>
                  <a:srgbClr val="506176"/>
                </a:solidFill>
              </a:rPr>
              <a:t>Mean best clustering-model gap</a:t>
            </a:r>
            <a:endParaRPr sz="1875">
              <a:solidFill>
                <a:srgbClr val="506176"/>
              </a:solidFill>
            </a:endParaRPr>
          </a:p>
        </p:txBody>
      </p:sp>
      <p:sp>
        <p:nvSpPr>
          <p:cNvPr id="234" name="Google Shape;234;p24"/>
          <p:cNvSpPr txBox="1"/>
          <p:nvPr/>
        </p:nvSpPr>
        <p:spPr>
          <a:xfrm>
            <a:off x="7972425" y="5543550"/>
            <a:ext cx="3476700" cy="3525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US" sz="1725">
                <a:solidFill>
                  <a:srgbClr val="506176"/>
                </a:solidFill>
              </a:rPr>
              <a:t>Total held-out solver time</a:t>
            </a:r>
            <a:endParaRPr sz="1725">
              <a:solidFill>
                <a:srgbClr val="506176"/>
              </a:solidFill>
            </a:endParaRPr>
          </a:p>
        </p:txBody>
      </p:sp>
      <p:sp>
        <p:nvSpPr>
          <p:cNvPr id="235" name="Google Shape;235;p24"/>
          <p:cNvSpPr txBox="1"/>
          <p:nvPr/>
        </p:nvSpPr>
        <p:spPr>
          <a:xfrm>
            <a:off x="609600" y="6067425"/>
            <a:ext cx="10477500" cy="4572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US" sz="1575">
                <a:solidFill>
                  <a:srgbClr val="506176"/>
                </a:solidFill>
              </a:rPr>
              <a:t>16 settings. Seed 11 training, seed 101 validation. Track A only. Separate from the latest Orbit run.</a:t>
            </a:r>
            <a:endParaRPr sz="1575">
              <a:solidFill>
                <a:srgbClr val="50617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40" name="Shape 240"/>
        <p:cNvGrpSpPr/>
        <p:nvPr/>
      </p:nvGrpSpPr>
      <p:grpSpPr>
        <a:xfrm>
          <a:off x="0" y="0"/>
          <a:ext cx="0" cy="0"/>
          <a:chOff x="0" y="0"/>
          <a:chExt cx="0" cy="0"/>
        </a:xfrm>
      </p:grpSpPr>
      <p:sp>
        <p:nvSpPr>
          <p:cNvPr id="241" name="Google Shape;241;p25"/>
          <p:cNvSpPr/>
          <p:nvPr/>
        </p:nvSpPr>
        <p:spPr>
          <a:xfrm>
            <a:off x="609600" y="457200"/>
            <a:ext cx="10972800" cy="85725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3150">
                <a:solidFill>
                  <a:srgbClr val="15263B"/>
                </a:solidFill>
              </a:rPr>
              <a:t>Evaluation metrics and loss accounting</a:t>
            </a:r>
            <a:endParaRPr b="1" sz="3150">
              <a:solidFill>
                <a:srgbClr val="15263B"/>
              </a:solidFill>
            </a:endParaRPr>
          </a:p>
        </p:txBody>
      </p:sp>
      <p:sp>
        <p:nvSpPr>
          <p:cNvPr id="242" name="Google Shape;242;p25"/>
          <p:cNvSpPr/>
          <p:nvPr/>
        </p:nvSpPr>
        <p:spPr>
          <a:xfrm>
            <a:off x="10782300" y="6438900"/>
            <a:ext cx="800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506176"/>
                </a:solidFill>
                <a:latin typeface="Arial"/>
                <a:ea typeface="Arial"/>
                <a:cs typeface="Arial"/>
                <a:sym typeface="Arial"/>
              </a:rPr>
              <a:t>BACKUP  8</a:t>
            </a:r>
            <a:endParaRPr/>
          </a:p>
        </p:txBody>
      </p:sp>
      <p:sp>
        <p:nvSpPr>
          <p:cNvPr id="243" name="Google Shape;243;p25"/>
          <p:cNvSpPr/>
          <p:nvPr/>
        </p:nvSpPr>
        <p:spPr>
          <a:xfrm>
            <a:off x="609600" y="1457325"/>
            <a:ext cx="10572900" cy="371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75">
                <a:solidFill>
                  <a:srgbClr val="087F8C"/>
                </a:solidFill>
              </a:rPr>
              <a:t>Full-route optimality gap</a:t>
            </a:r>
            <a:endParaRPr b="1" sz="2175">
              <a:solidFill>
                <a:srgbClr val="087F8C"/>
              </a:solidFill>
            </a:endParaRPr>
          </a:p>
        </p:txBody>
      </p:sp>
      <p:sp>
        <p:nvSpPr>
          <p:cNvPr id="244" name="Google Shape;244;p25"/>
          <p:cNvSpPr/>
          <p:nvPr/>
        </p:nvSpPr>
        <p:spPr>
          <a:xfrm>
            <a:off x="609600" y="2971800"/>
            <a:ext cx="10572900"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lang="en-US" sz="1950">
                <a:solidFill>
                  <a:srgbClr val="15263B"/>
                </a:solidFill>
              </a:rPr>
              <a:t>C* is the exact CVRP optimum. Failed runs have an undefined gap.</a:t>
            </a:r>
            <a:endParaRPr sz="1950">
              <a:solidFill>
                <a:srgbClr val="15263B"/>
              </a:solidFill>
            </a:endParaRPr>
          </a:p>
        </p:txBody>
      </p:sp>
      <p:sp>
        <p:nvSpPr>
          <p:cNvPr id="245" name="Google Shape;245;p25"/>
          <p:cNvSpPr/>
          <p:nvPr/>
        </p:nvSpPr>
        <p:spPr>
          <a:xfrm>
            <a:off x="609600" y="3867150"/>
            <a:ext cx="10477500" cy="390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lang="en-US" sz="2175">
                <a:solidFill>
                  <a:srgbClr val="087F8C"/>
                </a:solidFill>
              </a:rPr>
              <a:t>Where excess travel enters</a:t>
            </a:r>
            <a:endParaRPr b="1" sz="2175">
              <a:solidFill>
                <a:srgbClr val="087F8C"/>
              </a:solidFill>
            </a:endParaRPr>
          </a:p>
        </p:txBody>
      </p:sp>
      <p:sp>
        <p:nvSpPr>
          <p:cNvPr id="246" name="Google Shape;246;p25"/>
          <p:cNvSpPr txBox="1"/>
          <p:nvPr/>
        </p:nvSpPr>
        <p:spPr>
          <a:xfrm>
            <a:off x="609600" y="6143625"/>
            <a:ext cx="10620300" cy="4095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US" sz="1650">
                <a:solidFill>
                  <a:srgbClr val="506176"/>
                </a:solidFill>
              </a:rPr>
              <a:t>Absolute distances add. The clustering term can be negative because the objectives differ.</a:t>
            </a:r>
            <a:endParaRPr sz="1650">
              <a:solidFill>
                <a:srgbClr val="506176"/>
              </a:solidFill>
            </a:endParaRPr>
          </a:p>
        </p:txBody>
      </p:sp>
      <p:pic>
        <p:nvPicPr>
          <p:cNvPr descr="\mathrm{gap}(\%)=100\left(\frac{C}{C^{*}}-1\right)" id="247" name="Google Shape;247;p25" title="Typeset mathematical equation"/>
          <p:cNvPicPr preferRelativeResize="0"/>
          <p:nvPr/>
        </p:nvPicPr>
        <p:blipFill>
          <a:blip r:embed="rId3">
            <a:alphaModFix/>
          </a:blip>
          <a:stretch>
            <a:fillRect/>
          </a:stretch>
        </p:blipFill>
        <p:spPr>
          <a:xfrm>
            <a:off x="609600" y="1990837"/>
            <a:ext cx="3773247" cy="818926"/>
          </a:xfrm>
          <a:prstGeom prst="rect">
            <a:avLst/>
          </a:prstGeom>
          <a:noFill/>
          <a:ln>
            <a:noFill/>
          </a:ln>
        </p:spPr>
      </p:pic>
      <p:pic>
        <p:nvPicPr>
          <p:cNvPr descr="\begin{aligned}C_{\mathrm{end}}-C_{\mathrm{ref}}={}&amp;\underbrace{C_{\mathrm{model}}-C_{\mathrm{ref}}}_{\text{decomposition}}+\underbrace{C_{\mathrm{shot}}-C_{\mathrm{model}}}_{\text{clustering}}\\&amp;+\underbrace{C_{\mathrm{end}}-C_{\mathrm{shot}}}_{\text{routing}}\end{aligned}" id="248" name="Google Shape;248;p25" title="Typeset mathematical equation"/>
          <p:cNvPicPr preferRelativeResize="0"/>
          <p:nvPr/>
        </p:nvPicPr>
        <p:blipFill>
          <a:blip r:embed="rId4">
            <a:alphaModFix/>
          </a:blip>
          <a:stretch>
            <a:fillRect/>
          </a:stretch>
        </p:blipFill>
        <p:spPr>
          <a:xfrm>
            <a:off x="609600" y="4400581"/>
            <a:ext cx="5050409" cy="13810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